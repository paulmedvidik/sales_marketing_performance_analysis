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  <p:sldMasterId id="214748365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y="6858000" cx="12192000"/>
  <p:notesSz cx="6858000" cy="9144000"/>
  <p:embeddedFontLst>
    <p:embeddedFont>
      <p:font typeface="Play"/>
      <p:regular r:id="rId17"/>
      <p:bold r:id="rId18"/>
    </p:embeddedFont>
    <p:embeddedFont>
      <p:font typeface="EB Garamond ExtraBold"/>
      <p:bold r:id="rId19"/>
      <p:boldItalic r:id="rId2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1" roundtripDataSignature="AMtx7mjKtRAJLBqhDLCNQCMb4mIW3uJTs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EBGaramondExtraBold-bold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21" Type="http://customschemas.google.com/relationships/presentationmetadata" Target="meta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slideMaster" Target="slideMasters/slideMaster2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Play-regular.fntdata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font" Target="fonts/EBGaramondExtraBold-bold.fntdata"/><Relationship Id="rId6" Type="http://schemas.openxmlformats.org/officeDocument/2006/relationships/slide" Target="slides/slide1.xml"/><Relationship Id="rId18" Type="http://schemas.openxmlformats.org/officeDocument/2006/relationships/font" Target="fonts/Play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1" name="Google Shape;101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e13d24f94f_0_44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3e13d24f94f_0_4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</a:endParaRPr>
          </a:p>
        </p:txBody>
      </p:sp>
      <p:sp>
        <p:nvSpPr>
          <p:cNvPr id="132" name="Google Shape;132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</a:endParaRPr>
          </a:p>
        </p:txBody>
      </p:sp>
      <p:sp>
        <p:nvSpPr>
          <p:cNvPr id="143" name="Google Shape;143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</a:endParaRPr>
          </a:p>
        </p:txBody>
      </p:sp>
      <p:sp>
        <p:nvSpPr>
          <p:cNvPr id="155" name="Google Shape;155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</a:endParaRPr>
          </a:p>
        </p:txBody>
      </p:sp>
      <p:sp>
        <p:nvSpPr>
          <p:cNvPr id="172" name="Google Shape;172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80" name="Google Shape;180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06" name="Google Shape;206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18" name="Google Shape;218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14"/>
          <p:cNvSpPr txBox="1"/>
          <p:nvPr>
            <p:ph type="ctrTitle"/>
          </p:nvPr>
        </p:nvSpPr>
        <p:spPr>
          <a:xfrm>
            <a:off x="640080" y="1371599"/>
            <a:ext cx="6675120" cy="29518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Play"/>
              <a:buNone/>
              <a:defRPr sz="5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14"/>
          <p:cNvSpPr txBox="1"/>
          <p:nvPr>
            <p:ph idx="1" type="subTitle"/>
          </p:nvPr>
        </p:nvSpPr>
        <p:spPr>
          <a:xfrm>
            <a:off x="640080" y="4584879"/>
            <a:ext cx="6675120" cy="12878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566"/>
              <a:buNone/>
              <a:defRPr b="1" sz="1800" cap="none"/>
            </a:lvl1pPr>
            <a:lvl2pPr lvl="1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740"/>
              <a:buNone/>
              <a:defRPr sz="2000"/>
            </a:lvl2pPr>
            <a:lvl3pPr lvl="2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566"/>
              <a:buNone/>
              <a:defRPr sz="1800"/>
            </a:lvl3pPr>
            <a:lvl4pPr lvl="3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392"/>
              <a:buNone/>
              <a:defRPr sz="1600"/>
            </a:lvl4pPr>
            <a:lvl5pPr lvl="4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392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5" name="Google Shape;15;p14"/>
          <p:cNvSpPr txBox="1"/>
          <p:nvPr>
            <p:ph idx="10" type="dt"/>
          </p:nvPr>
        </p:nvSpPr>
        <p:spPr>
          <a:xfrm>
            <a:off x="64008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14"/>
          <p:cNvSpPr txBox="1"/>
          <p:nvPr>
            <p:ph idx="11" type="ftr"/>
          </p:nvPr>
        </p:nvSpPr>
        <p:spPr>
          <a:xfrm>
            <a:off x="6767622" y="6356350"/>
            <a:ext cx="404037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4"/>
          <p:cNvSpPr txBox="1"/>
          <p:nvPr>
            <p:ph idx="12" type="sldNum"/>
          </p:nvPr>
        </p:nvSpPr>
        <p:spPr>
          <a:xfrm>
            <a:off x="10807995" y="6356350"/>
            <a:ext cx="72301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5"/>
          <p:cNvSpPr txBox="1"/>
          <p:nvPr>
            <p:ph type="title"/>
          </p:nvPr>
        </p:nvSpPr>
        <p:spPr>
          <a:xfrm>
            <a:off x="640079" y="1371601"/>
            <a:ext cx="10890929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5"/>
          <p:cNvSpPr txBox="1"/>
          <p:nvPr>
            <p:ph idx="1" type="body"/>
          </p:nvPr>
        </p:nvSpPr>
        <p:spPr>
          <a:xfrm>
            <a:off x="640080" y="2633472"/>
            <a:ext cx="10890928" cy="35661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8041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566"/>
              <a:buChar char="•"/>
              <a:defRPr/>
            </a:lvl1pPr>
            <a:lvl2pPr indent="-328041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66"/>
              <a:buChar char="•"/>
              <a:defRPr/>
            </a:lvl2pPr>
            <a:lvl3pPr indent="-328041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66"/>
              <a:buChar char="•"/>
              <a:defRPr/>
            </a:lvl3pPr>
            <a:lvl4pPr indent="-328041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66"/>
              <a:buChar char="•"/>
              <a:defRPr/>
            </a:lvl4pPr>
            <a:lvl5pPr indent="-328041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66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8" name="Google Shape;28;p15"/>
          <p:cNvSpPr txBox="1"/>
          <p:nvPr>
            <p:ph idx="10" type="dt"/>
          </p:nvPr>
        </p:nvSpPr>
        <p:spPr>
          <a:xfrm>
            <a:off x="64008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5"/>
          <p:cNvSpPr txBox="1"/>
          <p:nvPr>
            <p:ph idx="11" type="ftr"/>
          </p:nvPr>
        </p:nvSpPr>
        <p:spPr>
          <a:xfrm>
            <a:off x="6767622" y="6356350"/>
            <a:ext cx="404037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15"/>
          <p:cNvSpPr txBox="1"/>
          <p:nvPr>
            <p:ph idx="12" type="sldNum"/>
          </p:nvPr>
        </p:nvSpPr>
        <p:spPr>
          <a:xfrm>
            <a:off x="10807995" y="6356350"/>
            <a:ext cx="72301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13"/>
          <p:cNvSpPr txBox="1"/>
          <p:nvPr>
            <p:ph type="ctrTitle"/>
          </p:nvPr>
        </p:nvSpPr>
        <p:spPr>
          <a:xfrm>
            <a:off x="640080" y="1371599"/>
            <a:ext cx="6675120" cy="29518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Play"/>
              <a:buNone/>
              <a:defRPr sz="5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13"/>
          <p:cNvSpPr txBox="1"/>
          <p:nvPr>
            <p:ph idx="1" type="subTitle"/>
          </p:nvPr>
        </p:nvSpPr>
        <p:spPr>
          <a:xfrm>
            <a:off x="640080" y="4584879"/>
            <a:ext cx="6675120" cy="12878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566"/>
              <a:buNone/>
              <a:defRPr b="1" sz="1800" cap="none"/>
            </a:lvl1pPr>
            <a:lvl2pPr lvl="1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740"/>
              <a:buNone/>
              <a:defRPr sz="2000"/>
            </a:lvl2pPr>
            <a:lvl3pPr lvl="2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66"/>
              <a:buNone/>
              <a:defRPr sz="1800"/>
            </a:lvl3pPr>
            <a:lvl4pPr lvl="3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92"/>
              <a:buNone/>
              <a:defRPr sz="1600"/>
            </a:lvl4pPr>
            <a:lvl5pPr lvl="4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92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34" name="Google Shape;34;p13"/>
          <p:cNvSpPr txBox="1"/>
          <p:nvPr>
            <p:ph idx="10" type="dt"/>
          </p:nvPr>
        </p:nvSpPr>
        <p:spPr>
          <a:xfrm>
            <a:off x="64008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3"/>
          <p:cNvSpPr txBox="1"/>
          <p:nvPr>
            <p:ph idx="11" type="ftr"/>
          </p:nvPr>
        </p:nvSpPr>
        <p:spPr>
          <a:xfrm>
            <a:off x="6767622" y="6356350"/>
            <a:ext cx="404037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13"/>
          <p:cNvSpPr txBox="1"/>
          <p:nvPr>
            <p:ph idx="12" type="sldNum"/>
          </p:nvPr>
        </p:nvSpPr>
        <p:spPr>
          <a:xfrm>
            <a:off x="10807995" y="6356350"/>
            <a:ext cx="72301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1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39" name="Google Shape;39;p16"/>
          <p:cNvSpPr txBox="1"/>
          <p:nvPr>
            <p:ph type="title"/>
          </p:nvPr>
        </p:nvSpPr>
        <p:spPr>
          <a:xfrm>
            <a:off x="640080" y="1291366"/>
            <a:ext cx="9214884" cy="315997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Play"/>
              <a:buNone/>
              <a:defRPr sz="5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16"/>
          <p:cNvSpPr txBox="1"/>
          <p:nvPr>
            <p:ph idx="1" type="body"/>
          </p:nvPr>
        </p:nvSpPr>
        <p:spPr>
          <a:xfrm>
            <a:off x="640080" y="5018567"/>
            <a:ext cx="7907079" cy="107388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40"/>
              <a:buNone/>
              <a:defRPr sz="20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74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566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392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392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41" name="Google Shape;41;p16"/>
          <p:cNvSpPr txBox="1"/>
          <p:nvPr>
            <p:ph idx="10" type="dt"/>
          </p:nvPr>
        </p:nvSpPr>
        <p:spPr>
          <a:xfrm>
            <a:off x="64008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6"/>
          <p:cNvSpPr txBox="1"/>
          <p:nvPr>
            <p:ph idx="11" type="ftr"/>
          </p:nvPr>
        </p:nvSpPr>
        <p:spPr>
          <a:xfrm>
            <a:off x="6767622" y="6356350"/>
            <a:ext cx="404037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16"/>
          <p:cNvSpPr txBox="1"/>
          <p:nvPr>
            <p:ph idx="12" type="sldNum"/>
          </p:nvPr>
        </p:nvSpPr>
        <p:spPr>
          <a:xfrm>
            <a:off x="10807995" y="6356350"/>
            <a:ext cx="72301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44" name="Google Shape;44;p16"/>
          <p:cNvCxnSpPr/>
          <p:nvPr/>
        </p:nvCxnSpPr>
        <p:spPr>
          <a:xfrm>
            <a:off x="716281" y="4715234"/>
            <a:ext cx="978862" cy="0"/>
          </a:xfrm>
          <a:prstGeom prst="straightConnector1">
            <a:avLst/>
          </a:prstGeom>
          <a:noFill/>
          <a:ln cap="flat" cmpd="sng" w="762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7"/>
          <p:cNvSpPr txBox="1"/>
          <p:nvPr>
            <p:ph type="title"/>
          </p:nvPr>
        </p:nvSpPr>
        <p:spPr>
          <a:xfrm>
            <a:off x="640079" y="1371601"/>
            <a:ext cx="10890929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7"/>
          <p:cNvSpPr txBox="1"/>
          <p:nvPr>
            <p:ph idx="1" type="body"/>
          </p:nvPr>
        </p:nvSpPr>
        <p:spPr>
          <a:xfrm>
            <a:off x="640080" y="2633472"/>
            <a:ext cx="5212080" cy="35661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8041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566"/>
              <a:buChar char="•"/>
              <a:defRPr/>
            </a:lvl1pPr>
            <a:lvl2pPr indent="-328041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66"/>
              <a:buChar char="•"/>
              <a:defRPr/>
            </a:lvl2pPr>
            <a:lvl3pPr indent="-328041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66"/>
              <a:buChar char="•"/>
              <a:defRPr/>
            </a:lvl3pPr>
            <a:lvl4pPr indent="-328041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66"/>
              <a:buChar char="•"/>
              <a:defRPr/>
            </a:lvl4pPr>
            <a:lvl5pPr indent="-328041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66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8" name="Google Shape;48;p17"/>
          <p:cNvSpPr txBox="1"/>
          <p:nvPr>
            <p:ph idx="2" type="body"/>
          </p:nvPr>
        </p:nvSpPr>
        <p:spPr>
          <a:xfrm>
            <a:off x="6318928" y="2633472"/>
            <a:ext cx="5212080" cy="35661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8041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566"/>
              <a:buChar char="•"/>
              <a:defRPr/>
            </a:lvl1pPr>
            <a:lvl2pPr indent="-328041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66"/>
              <a:buChar char="•"/>
              <a:defRPr/>
            </a:lvl2pPr>
            <a:lvl3pPr indent="-328041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66"/>
              <a:buChar char="•"/>
              <a:defRPr/>
            </a:lvl3pPr>
            <a:lvl4pPr indent="-328041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66"/>
              <a:buChar char="•"/>
              <a:defRPr/>
            </a:lvl4pPr>
            <a:lvl5pPr indent="-328041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66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9" name="Google Shape;49;p17"/>
          <p:cNvSpPr txBox="1"/>
          <p:nvPr>
            <p:ph idx="10" type="dt"/>
          </p:nvPr>
        </p:nvSpPr>
        <p:spPr>
          <a:xfrm>
            <a:off x="64008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17"/>
          <p:cNvSpPr txBox="1"/>
          <p:nvPr>
            <p:ph idx="11" type="ftr"/>
          </p:nvPr>
        </p:nvSpPr>
        <p:spPr>
          <a:xfrm>
            <a:off x="6767622" y="6356350"/>
            <a:ext cx="404037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7"/>
          <p:cNvSpPr txBox="1"/>
          <p:nvPr>
            <p:ph idx="12" type="sldNum"/>
          </p:nvPr>
        </p:nvSpPr>
        <p:spPr>
          <a:xfrm>
            <a:off x="10807995" y="6356350"/>
            <a:ext cx="72301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8"/>
          <p:cNvSpPr txBox="1"/>
          <p:nvPr>
            <p:ph type="title"/>
          </p:nvPr>
        </p:nvSpPr>
        <p:spPr>
          <a:xfrm>
            <a:off x="640079" y="1371599"/>
            <a:ext cx="10890929" cy="93975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18"/>
          <p:cNvSpPr txBox="1"/>
          <p:nvPr>
            <p:ph idx="1" type="body"/>
          </p:nvPr>
        </p:nvSpPr>
        <p:spPr>
          <a:xfrm>
            <a:off x="640079" y="2311352"/>
            <a:ext cx="5212080" cy="69537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566"/>
              <a:buNone/>
              <a:defRPr b="1" sz="1800" cap="none"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740"/>
              <a:buNone/>
              <a:defRPr b="1" sz="20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66"/>
              <a:buNone/>
              <a:defRPr b="1" sz="18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92"/>
              <a:buNone/>
              <a:defRPr b="1" sz="16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92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5" name="Google Shape;55;p18"/>
          <p:cNvSpPr txBox="1"/>
          <p:nvPr>
            <p:ph idx="2" type="body"/>
          </p:nvPr>
        </p:nvSpPr>
        <p:spPr>
          <a:xfrm>
            <a:off x="640079" y="3006725"/>
            <a:ext cx="5212080" cy="31912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8041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566"/>
              <a:buChar char="•"/>
              <a:defRPr/>
            </a:lvl1pPr>
            <a:lvl2pPr indent="-328041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66"/>
              <a:buChar char="•"/>
              <a:defRPr/>
            </a:lvl2pPr>
            <a:lvl3pPr indent="-328041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66"/>
              <a:buChar char="•"/>
              <a:defRPr/>
            </a:lvl3pPr>
            <a:lvl4pPr indent="-328041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66"/>
              <a:buChar char="•"/>
              <a:defRPr/>
            </a:lvl4pPr>
            <a:lvl5pPr indent="-328041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66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6" name="Google Shape;56;p18"/>
          <p:cNvSpPr txBox="1"/>
          <p:nvPr>
            <p:ph idx="3" type="body"/>
          </p:nvPr>
        </p:nvSpPr>
        <p:spPr>
          <a:xfrm>
            <a:off x="6318928" y="2311352"/>
            <a:ext cx="5212080" cy="69537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566"/>
              <a:buNone/>
              <a:defRPr b="1" sz="1800" cap="none"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740"/>
              <a:buNone/>
              <a:defRPr b="1" sz="20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66"/>
              <a:buNone/>
              <a:defRPr b="1" sz="18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92"/>
              <a:buNone/>
              <a:defRPr b="1" sz="16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92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7" name="Google Shape;57;p18"/>
          <p:cNvSpPr txBox="1"/>
          <p:nvPr>
            <p:ph idx="4" type="body"/>
          </p:nvPr>
        </p:nvSpPr>
        <p:spPr>
          <a:xfrm>
            <a:off x="6318928" y="3006725"/>
            <a:ext cx="5212080" cy="31912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8041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566"/>
              <a:buChar char="•"/>
              <a:defRPr/>
            </a:lvl1pPr>
            <a:lvl2pPr indent="-328041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66"/>
              <a:buChar char="•"/>
              <a:defRPr/>
            </a:lvl2pPr>
            <a:lvl3pPr indent="-328041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66"/>
              <a:buChar char="•"/>
              <a:defRPr/>
            </a:lvl3pPr>
            <a:lvl4pPr indent="-328041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66"/>
              <a:buChar char="•"/>
              <a:defRPr/>
            </a:lvl4pPr>
            <a:lvl5pPr indent="-328041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66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8" name="Google Shape;58;p18"/>
          <p:cNvSpPr txBox="1"/>
          <p:nvPr>
            <p:ph idx="10" type="dt"/>
          </p:nvPr>
        </p:nvSpPr>
        <p:spPr>
          <a:xfrm>
            <a:off x="64008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8"/>
          <p:cNvSpPr txBox="1"/>
          <p:nvPr>
            <p:ph idx="11" type="ftr"/>
          </p:nvPr>
        </p:nvSpPr>
        <p:spPr>
          <a:xfrm>
            <a:off x="6767622" y="6356350"/>
            <a:ext cx="404037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8"/>
          <p:cNvSpPr txBox="1"/>
          <p:nvPr>
            <p:ph idx="12" type="sldNum"/>
          </p:nvPr>
        </p:nvSpPr>
        <p:spPr>
          <a:xfrm>
            <a:off x="10807995" y="6356350"/>
            <a:ext cx="72301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9"/>
          <p:cNvSpPr txBox="1"/>
          <p:nvPr>
            <p:ph type="title"/>
          </p:nvPr>
        </p:nvSpPr>
        <p:spPr>
          <a:xfrm>
            <a:off x="640079" y="1371601"/>
            <a:ext cx="10890929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9"/>
          <p:cNvSpPr txBox="1"/>
          <p:nvPr>
            <p:ph idx="10" type="dt"/>
          </p:nvPr>
        </p:nvSpPr>
        <p:spPr>
          <a:xfrm>
            <a:off x="64008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19"/>
          <p:cNvSpPr txBox="1"/>
          <p:nvPr>
            <p:ph idx="11" type="ftr"/>
          </p:nvPr>
        </p:nvSpPr>
        <p:spPr>
          <a:xfrm>
            <a:off x="6767622" y="6356350"/>
            <a:ext cx="404037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19"/>
          <p:cNvSpPr txBox="1"/>
          <p:nvPr>
            <p:ph idx="12" type="sldNum"/>
          </p:nvPr>
        </p:nvSpPr>
        <p:spPr>
          <a:xfrm>
            <a:off x="10807995" y="6356350"/>
            <a:ext cx="72301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2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68" name="Google Shape;68;p20"/>
          <p:cNvSpPr txBox="1"/>
          <p:nvPr>
            <p:ph idx="10" type="dt"/>
          </p:nvPr>
        </p:nvSpPr>
        <p:spPr>
          <a:xfrm>
            <a:off x="64008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20"/>
          <p:cNvSpPr txBox="1"/>
          <p:nvPr>
            <p:ph idx="11" type="ftr"/>
          </p:nvPr>
        </p:nvSpPr>
        <p:spPr>
          <a:xfrm>
            <a:off x="6767622" y="6356350"/>
            <a:ext cx="404037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0"/>
          <p:cNvSpPr txBox="1"/>
          <p:nvPr>
            <p:ph idx="12" type="sldNum"/>
          </p:nvPr>
        </p:nvSpPr>
        <p:spPr>
          <a:xfrm>
            <a:off x="10807995" y="6356350"/>
            <a:ext cx="72301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21"/>
          <p:cNvSpPr txBox="1"/>
          <p:nvPr>
            <p:ph type="title"/>
          </p:nvPr>
        </p:nvSpPr>
        <p:spPr>
          <a:xfrm>
            <a:off x="640080" y="1371600"/>
            <a:ext cx="3859397" cy="145172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Play"/>
              <a:buNone/>
              <a:defRPr sz="3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1"/>
          <p:cNvSpPr txBox="1"/>
          <p:nvPr>
            <p:ph idx="1" type="body"/>
          </p:nvPr>
        </p:nvSpPr>
        <p:spPr>
          <a:xfrm>
            <a:off x="4936519" y="1031001"/>
            <a:ext cx="6594490" cy="5166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3286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36"/>
              <a:buChar char="•"/>
              <a:defRPr sz="2800"/>
            </a:lvl1pPr>
            <a:lvl2pPr indent="-361188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88"/>
              <a:buChar char="•"/>
              <a:defRPr sz="2400"/>
            </a:lvl2pPr>
            <a:lvl3pPr indent="-33909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740"/>
              <a:buChar char="•"/>
              <a:defRPr sz="2000"/>
            </a:lvl3pPr>
            <a:lvl4pPr indent="-328041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66"/>
              <a:buChar char="•"/>
              <a:defRPr sz="1800"/>
            </a:lvl4pPr>
            <a:lvl5pPr indent="-328041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66"/>
              <a:buChar char="•"/>
              <a:defRPr sz="18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74" name="Google Shape;74;p21"/>
          <p:cNvSpPr txBox="1"/>
          <p:nvPr>
            <p:ph idx="2" type="body"/>
          </p:nvPr>
        </p:nvSpPr>
        <p:spPr>
          <a:xfrm>
            <a:off x="640080" y="2972168"/>
            <a:ext cx="3859397" cy="322682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392"/>
              <a:buNone/>
              <a:defRPr sz="1600"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18"/>
              <a:buNone/>
              <a:defRPr sz="14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44"/>
              <a:buNone/>
              <a:defRPr sz="12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70"/>
              <a:buNone/>
              <a:defRPr sz="10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7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75" name="Google Shape;75;p21"/>
          <p:cNvSpPr txBox="1"/>
          <p:nvPr>
            <p:ph idx="10" type="dt"/>
          </p:nvPr>
        </p:nvSpPr>
        <p:spPr>
          <a:xfrm>
            <a:off x="64008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1"/>
          <p:cNvSpPr txBox="1"/>
          <p:nvPr>
            <p:ph idx="11" type="ftr"/>
          </p:nvPr>
        </p:nvSpPr>
        <p:spPr>
          <a:xfrm>
            <a:off x="6767622" y="6356350"/>
            <a:ext cx="404037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21"/>
          <p:cNvSpPr txBox="1"/>
          <p:nvPr>
            <p:ph idx="12" type="sldNum"/>
          </p:nvPr>
        </p:nvSpPr>
        <p:spPr>
          <a:xfrm>
            <a:off x="10807995" y="6356350"/>
            <a:ext cx="72301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2"/>
          <p:cNvSpPr txBox="1"/>
          <p:nvPr>
            <p:ph type="title"/>
          </p:nvPr>
        </p:nvSpPr>
        <p:spPr>
          <a:xfrm>
            <a:off x="640080" y="1371600"/>
            <a:ext cx="3859397" cy="145172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Play"/>
              <a:buNone/>
              <a:defRPr sz="3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22"/>
          <p:cNvSpPr/>
          <p:nvPr>
            <p:ph idx="2" type="pic"/>
          </p:nvPr>
        </p:nvSpPr>
        <p:spPr>
          <a:xfrm>
            <a:off x="4937760" y="1033271"/>
            <a:ext cx="6592824" cy="5166360"/>
          </a:xfrm>
          <a:prstGeom prst="rect">
            <a:avLst/>
          </a:prstGeom>
          <a:noFill/>
          <a:ln>
            <a:noFill/>
          </a:ln>
        </p:spPr>
      </p:sp>
      <p:sp>
        <p:nvSpPr>
          <p:cNvPr id="81" name="Google Shape;81;p22"/>
          <p:cNvSpPr txBox="1"/>
          <p:nvPr>
            <p:ph idx="1" type="body"/>
          </p:nvPr>
        </p:nvSpPr>
        <p:spPr>
          <a:xfrm>
            <a:off x="640080" y="2972167"/>
            <a:ext cx="3859397" cy="32268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392"/>
              <a:buNone/>
              <a:defRPr sz="1600"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18"/>
              <a:buNone/>
              <a:defRPr sz="14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44"/>
              <a:buNone/>
              <a:defRPr sz="12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70"/>
              <a:buNone/>
              <a:defRPr sz="10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7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82" name="Google Shape;82;p22"/>
          <p:cNvSpPr txBox="1"/>
          <p:nvPr>
            <p:ph idx="10" type="dt"/>
          </p:nvPr>
        </p:nvSpPr>
        <p:spPr>
          <a:xfrm>
            <a:off x="64008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22"/>
          <p:cNvSpPr txBox="1"/>
          <p:nvPr>
            <p:ph idx="11" type="ftr"/>
          </p:nvPr>
        </p:nvSpPr>
        <p:spPr>
          <a:xfrm>
            <a:off x="6767622" y="6356350"/>
            <a:ext cx="404037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22"/>
          <p:cNvSpPr txBox="1"/>
          <p:nvPr>
            <p:ph idx="12" type="sldNum"/>
          </p:nvPr>
        </p:nvSpPr>
        <p:spPr>
          <a:xfrm>
            <a:off x="10807995" y="6356350"/>
            <a:ext cx="72301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3"/>
          <p:cNvSpPr txBox="1"/>
          <p:nvPr>
            <p:ph type="title"/>
          </p:nvPr>
        </p:nvSpPr>
        <p:spPr>
          <a:xfrm>
            <a:off x="640079" y="1371601"/>
            <a:ext cx="10890929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" name="Google Shape;87;p23"/>
          <p:cNvSpPr txBox="1"/>
          <p:nvPr>
            <p:ph idx="1" type="body"/>
          </p:nvPr>
        </p:nvSpPr>
        <p:spPr>
          <a:xfrm rot="5400000">
            <a:off x="4302464" y="-1028912"/>
            <a:ext cx="3566160" cy="108909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8041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566"/>
              <a:buChar char="•"/>
              <a:defRPr/>
            </a:lvl1pPr>
            <a:lvl2pPr indent="-328041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66"/>
              <a:buChar char="•"/>
              <a:defRPr/>
            </a:lvl2pPr>
            <a:lvl3pPr indent="-328041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66"/>
              <a:buChar char="•"/>
              <a:defRPr/>
            </a:lvl3pPr>
            <a:lvl4pPr indent="-328041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66"/>
              <a:buChar char="•"/>
              <a:defRPr/>
            </a:lvl4pPr>
            <a:lvl5pPr indent="-328041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66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8" name="Google Shape;88;p23"/>
          <p:cNvSpPr txBox="1"/>
          <p:nvPr>
            <p:ph idx="10" type="dt"/>
          </p:nvPr>
        </p:nvSpPr>
        <p:spPr>
          <a:xfrm>
            <a:off x="64008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9" name="Google Shape;89;p23"/>
          <p:cNvSpPr txBox="1"/>
          <p:nvPr>
            <p:ph idx="11" type="ftr"/>
          </p:nvPr>
        </p:nvSpPr>
        <p:spPr>
          <a:xfrm>
            <a:off x="6767622" y="6356350"/>
            <a:ext cx="404037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0" name="Google Shape;90;p23"/>
          <p:cNvSpPr txBox="1"/>
          <p:nvPr>
            <p:ph idx="12" type="sldNum"/>
          </p:nvPr>
        </p:nvSpPr>
        <p:spPr>
          <a:xfrm>
            <a:off x="10807995" y="6356350"/>
            <a:ext cx="72301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93" name="Google Shape;93;p24"/>
          <p:cNvSpPr txBox="1"/>
          <p:nvPr>
            <p:ph type="title"/>
          </p:nvPr>
        </p:nvSpPr>
        <p:spPr>
          <a:xfrm rot="5400000">
            <a:off x="7346663" y="2502635"/>
            <a:ext cx="5536884" cy="18117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4" name="Google Shape;94;p24"/>
          <p:cNvSpPr txBox="1"/>
          <p:nvPr>
            <p:ph idx="1" type="body"/>
          </p:nvPr>
        </p:nvSpPr>
        <p:spPr>
          <a:xfrm rot="5400000">
            <a:off x="2077849" y="-797689"/>
            <a:ext cx="5536884" cy="84124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8041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566"/>
              <a:buChar char="•"/>
              <a:defRPr/>
            </a:lvl1pPr>
            <a:lvl2pPr indent="-328041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66"/>
              <a:buChar char="•"/>
              <a:defRPr/>
            </a:lvl2pPr>
            <a:lvl3pPr indent="-328041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66"/>
              <a:buChar char="•"/>
              <a:defRPr/>
            </a:lvl3pPr>
            <a:lvl4pPr indent="-328041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66"/>
              <a:buChar char="•"/>
              <a:defRPr/>
            </a:lvl4pPr>
            <a:lvl5pPr indent="-328041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66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5" name="Google Shape;95;p24"/>
          <p:cNvSpPr txBox="1"/>
          <p:nvPr>
            <p:ph idx="10" type="dt"/>
          </p:nvPr>
        </p:nvSpPr>
        <p:spPr>
          <a:xfrm>
            <a:off x="64008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6" name="Google Shape;96;p24"/>
          <p:cNvSpPr txBox="1"/>
          <p:nvPr>
            <p:ph idx="11" type="ftr"/>
          </p:nvPr>
        </p:nvSpPr>
        <p:spPr>
          <a:xfrm>
            <a:off x="6767622" y="6356350"/>
            <a:ext cx="404037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7" name="Google Shape;97;p24"/>
          <p:cNvSpPr txBox="1"/>
          <p:nvPr>
            <p:ph idx="12" type="sldNum"/>
          </p:nvPr>
        </p:nvSpPr>
        <p:spPr>
          <a:xfrm>
            <a:off x="10807995" y="6356350"/>
            <a:ext cx="72301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98" name="Google Shape;98;p24"/>
          <p:cNvCxnSpPr/>
          <p:nvPr/>
        </p:nvCxnSpPr>
        <p:spPr>
          <a:xfrm rot="5400000">
            <a:off x="10872154" y="1192438"/>
            <a:ext cx="978862" cy="0"/>
          </a:xfrm>
          <a:prstGeom prst="straightConnector1">
            <a:avLst/>
          </a:prstGeom>
          <a:noFill/>
          <a:ln cap="flat" cmpd="sng" w="762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slideLayout" Target="../slideLayouts/slideLayout3.xml"/><Relationship Id="rId3" Type="http://schemas.openxmlformats.org/officeDocument/2006/relationships/slideLayout" Target="../slideLayouts/slideLayout4.xml"/><Relationship Id="rId4" Type="http://schemas.openxmlformats.org/officeDocument/2006/relationships/slideLayout" Target="../slideLayouts/slideLayout5.xml"/><Relationship Id="rId11" Type="http://schemas.openxmlformats.org/officeDocument/2006/relationships/slideLayout" Target="../slideLayouts/slideLayout12.xml"/><Relationship Id="rId10" Type="http://schemas.openxmlformats.org/officeDocument/2006/relationships/slideLayout" Target="../slideLayouts/slideLayout11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10.xml"/><Relationship Id="rId5" Type="http://schemas.openxmlformats.org/officeDocument/2006/relationships/slideLayout" Target="../slideLayouts/slideLayout6.xml"/><Relationship Id="rId6" Type="http://schemas.openxmlformats.org/officeDocument/2006/relationships/slideLayout" Target="../slideLayouts/slideLayout7.xml"/><Relationship Id="rId7" Type="http://schemas.openxmlformats.org/officeDocument/2006/relationships/slideLayout" Target="../slideLayouts/slideLayout8.xml"/><Relationship Id="rId8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BFBFBF"/>
            </a:gs>
            <a:gs pos="100000">
              <a:srgbClr val="737373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2"/>
          <p:cNvSpPr txBox="1"/>
          <p:nvPr>
            <p:ph type="title"/>
          </p:nvPr>
        </p:nvSpPr>
        <p:spPr>
          <a:xfrm>
            <a:off x="640079" y="1371601"/>
            <a:ext cx="10890929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Play"/>
              <a:buNone/>
              <a:defRPr b="1" i="0" sz="40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2"/>
          <p:cNvSpPr txBox="1"/>
          <p:nvPr>
            <p:ph idx="1" type="body"/>
          </p:nvPr>
        </p:nvSpPr>
        <p:spPr>
          <a:xfrm>
            <a:off x="640080" y="2633472"/>
            <a:ext cx="10890928" cy="35661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39090" lvl="0" marL="457200" marR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740"/>
              <a:buFont typeface="Arial"/>
              <a:buChar char="•"/>
              <a:defRPr b="0" i="0" sz="20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28041" lvl="1" marL="9144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566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2pPr>
            <a:lvl3pPr indent="-316992" lvl="2" marL="13716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392"/>
              <a:buFont typeface="Arial"/>
              <a:buChar char="•"/>
              <a:defRPr b="0" i="0" sz="16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3pPr>
            <a:lvl4pPr indent="-305943" lvl="3" marL="18288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18"/>
              <a:buFont typeface="Arial"/>
              <a:buChar char="•"/>
              <a:defRPr b="0" i="0" sz="1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4pPr>
            <a:lvl5pPr indent="-305943" lvl="4" marL="22860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18"/>
              <a:buFont typeface="Arial"/>
              <a:buChar char="•"/>
              <a:defRPr b="0" i="0" sz="1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9pPr>
          </a:lstStyle>
          <a:p/>
        </p:txBody>
      </p:sp>
      <p:sp>
        <p:nvSpPr>
          <p:cNvPr id="8" name="Google Shape;8;p12"/>
          <p:cNvSpPr txBox="1"/>
          <p:nvPr>
            <p:ph idx="10" type="dt"/>
          </p:nvPr>
        </p:nvSpPr>
        <p:spPr>
          <a:xfrm>
            <a:off x="64008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9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9pPr>
          </a:lstStyle>
          <a:p/>
        </p:txBody>
      </p:sp>
      <p:sp>
        <p:nvSpPr>
          <p:cNvPr id="9" name="Google Shape;9;p12"/>
          <p:cNvSpPr txBox="1"/>
          <p:nvPr>
            <p:ph idx="11" type="ftr"/>
          </p:nvPr>
        </p:nvSpPr>
        <p:spPr>
          <a:xfrm>
            <a:off x="6767622" y="6356350"/>
            <a:ext cx="404037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9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9pPr>
          </a:lstStyle>
          <a:p/>
        </p:txBody>
      </p:sp>
      <p:sp>
        <p:nvSpPr>
          <p:cNvPr id="10" name="Google Shape;10;p12"/>
          <p:cNvSpPr txBox="1"/>
          <p:nvPr>
            <p:ph idx="12" type="sldNum"/>
          </p:nvPr>
        </p:nvSpPr>
        <p:spPr>
          <a:xfrm>
            <a:off x="10807995" y="6356350"/>
            <a:ext cx="72301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11" name="Google Shape;11;p12"/>
          <p:cNvCxnSpPr/>
          <p:nvPr/>
        </p:nvCxnSpPr>
        <p:spPr>
          <a:xfrm>
            <a:off x="713232" y="1031001"/>
            <a:ext cx="978862" cy="0"/>
          </a:xfrm>
          <a:prstGeom prst="straightConnector1">
            <a:avLst/>
          </a:prstGeom>
          <a:noFill/>
          <a:ln cap="flat" cmpd="sng" w="762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BFBFBF"/>
            </a:gs>
            <a:gs pos="100000">
              <a:srgbClr val="737373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11"/>
          <p:cNvSpPr txBox="1"/>
          <p:nvPr>
            <p:ph type="title"/>
          </p:nvPr>
        </p:nvSpPr>
        <p:spPr>
          <a:xfrm>
            <a:off x="640079" y="1371601"/>
            <a:ext cx="10890929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Play"/>
              <a:buNone/>
              <a:defRPr b="1" i="0" sz="40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0" name="Google Shape;20;p11"/>
          <p:cNvSpPr txBox="1"/>
          <p:nvPr>
            <p:ph idx="1" type="body"/>
          </p:nvPr>
        </p:nvSpPr>
        <p:spPr>
          <a:xfrm>
            <a:off x="640080" y="2633472"/>
            <a:ext cx="10890928" cy="35661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39090" lvl="0" marL="457200" marR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4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28041" lvl="1" marL="9144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66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2pPr>
            <a:lvl3pPr indent="-316992" lvl="2" marL="13716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92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3pPr>
            <a:lvl4pPr indent="-305943" lvl="3" marL="18288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18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4pPr>
            <a:lvl5pPr indent="-305943" lvl="4" marL="22860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18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9pPr>
          </a:lstStyle>
          <a:p/>
        </p:txBody>
      </p:sp>
      <p:sp>
        <p:nvSpPr>
          <p:cNvPr id="21" name="Google Shape;21;p11"/>
          <p:cNvSpPr txBox="1"/>
          <p:nvPr>
            <p:ph idx="10" type="dt"/>
          </p:nvPr>
        </p:nvSpPr>
        <p:spPr>
          <a:xfrm>
            <a:off x="64008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9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9pPr>
          </a:lstStyle>
          <a:p/>
        </p:txBody>
      </p:sp>
      <p:sp>
        <p:nvSpPr>
          <p:cNvPr id="22" name="Google Shape;22;p11"/>
          <p:cNvSpPr txBox="1"/>
          <p:nvPr>
            <p:ph idx="11" type="ftr"/>
          </p:nvPr>
        </p:nvSpPr>
        <p:spPr>
          <a:xfrm>
            <a:off x="6767622" y="6356350"/>
            <a:ext cx="404037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9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9pPr>
          </a:lstStyle>
          <a:p/>
        </p:txBody>
      </p:sp>
      <p:sp>
        <p:nvSpPr>
          <p:cNvPr id="23" name="Google Shape;23;p11"/>
          <p:cNvSpPr txBox="1"/>
          <p:nvPr>
            <p:ph idx="12" type="sldNum"/>
          </p:nvPr>
        </p:nvSpPr>
        <p:spPr>
          <a:xfrm>
            <a:off x="10807995" y="6356350"/>
            <a:ext cx="72301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24" name="Google Shape;24;p11"/>
          <p:cNvCxnSpPr/>
          <p:nvPr/>
        </p:nvCxnSpPr>
        <p:spPr>
          <a:xfrm>
            <a:off x="713232" y="1031001"/>
            <a:ext cx="978862" cy="0"/>
          </a:xfrm>
          <a:prstGeom prst="straightConnector1">
            <a:avLst/>
          </a:prstGeom>
          <a:noFill/>
          <a:ln cap="flat" cmpd="sng" w="762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1.png"/><Relationship Id="rId4" Type="http://schemas.openxmlformats.org/officeDocument/2006/relationships/image" Target="../media/image2.png"/><Relationship Id="rId5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9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Play"/>
              <a:ea typeface="Play"/>
              <a:cs typeface="Play"/>
              <a:sym typeface="Play"/>
            </a:endParaRPr>
          </a:p>
        </p:txBody>
      </p:sp>
      <p:pic>
        <p:nvPicPr>
          <p:cNvPr descr="Interlocking cogs" id="104" name="Google Shape;104;p1"/>
          <p:cNvPicPr preferRelativeResize="0"/>
          <p:nvPr/>
        </p:nvPicPr>
        <p:blipFill rotWithShape="1">
          <a:blip r:embed="rId3">
            <a:alphaModFix/>
          </a:blip>
          <a:srcRect b="15473" l="0" r="0" t="9527"/>
          <a:stretch/>
        </p:blipFill>
        <p:spPr>
          <a:xfrm>
            <a:off x="20" y="10"/>
            <a:ext cx="12191979" cy="685799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"/>
          <p:cNvSpPr/>
          <p:nvPr/>
        </p:nvSpPr>
        <p:spPr>
          <a:xfrm rot="10800000">
            <a:off x="3648484" y="0"/>
            <a:ext cx="8543515" cy="685800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58000">
                <a:srgbClr val="000000">
                  <a:alpha val="54901"/>
                </a:srgbClr>
              </a:gs>
              <a:gs pos="93000">
                <a:srgbClr val="000000">
                  <a:alpha val="63921"/>
                </a:srgbClr>
              </a:gs>
              <a:gs pos="100000">
                <a:srgbClr val="000000">
                  <a:alpha val="63921"/>
                </a:srgbClr>
              </a:gs>
            </a:gsLst>
            <a:lin ang="108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106" name="Google Shape;106;p1"/>
          <p:cNvSpPr txBox="1"/>
          <p:nvPr>
            <p:ph type="ctrTitle"/>
          </p:nvPr>
        </p:nvSpPr>
        <p:spPr>
          <a:xfrm>
            <a:off x="4686625" y="506875"/>
            <a:ext cx="7320000" cy="342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400"/>
              <a:buFont typeface="Play"/>
              <a:buNone/>
            </a:pPr>
            <a:r>
              <a:rPr lang="en-US" sz="7511">
                <a:solidFill>
                  <a:srgbClr val="FFFFFF"/>
                </a:solidFill>
              </a:rPr>
              <a:t>TechGear Inc.</a:t>
            </a:r>
            <a:endParaRPr sz="7511">
              <a:solidFill>
                <a:srgbClr val="FFFFFF"/>
              </a:solidFill>
            </a:endParaRPr>
          </a:p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400"/>
              <a:buFont typeface="Play"/>
              <a:buNone/>
            </a:pPr>
            <a:r>
              <a:rPr lang="en-US">
                <a:solidFill>
                  <a:srgbClr val="FFFFFF"/>
                </a:solidFill>
              </a:rPr>
              <a:t> Sales &amp; Marketing</a:t>
            </a:r>
            <a:endParaRPr>
              <a:solidFill>
                <a:srgbClr val="FFFFFF"/>
              </a:solidFill>
            </a:endParaRPr>
          </a:p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400"/>
              <a:buFont typeface="Play"/>
              <a:buNone/>
            </a:pPr>
            <a:r>
              <a:rPr lang="en-US" sz="4500">
                <a:solidFill>
                  <a:srgbClr val="FFFFFF"/>
                </a:solidFill>
              </a:rPr>
              <a:t>Performance Analysis</a:t>
            </a:r>
            <a:endParaRPr sz="4500">
              <a:solidFill>
                <a:srgbClr val="FFFFFF"/>
              </a:solidFill>
            </a:endParaRPr>
          </a:p>
        </p:txBody>
      </p:sp>
      <p:sp>
        <p:nvSpPr>
          <p:cNvPr id="107" name="Google Shape;107;p1"/>
          <p:cNvSpPr txBox="1"/>
          <p:nvPr>
            <p:ph idx="1" type="subTitle"/>
          </p:nvPr>
        </p:nvSpPr>
        <p:spPr>
          <a:xfrm>
            <a:off x="6589835" y="5253051"/>
            <a:ext cx="4941173" cy="13378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479"/>
              <a:buNone/>
            </a:pPr>
            <a:r>
              <a:rPr lang="en-US" sz="3300">
                <a:solidFill>
                  <a:srgbClr val="FFFFFF"/>
                </a:solidFill>
              </a:rPr>
              <a:t>Paul Medvidik</a:t>
            </a:r>
            <a:endParaRPr sz="3400"/>
          </a:p>
        </p:txBody>
      </p:sp>
      <p:cxnSp>
        <p:nvCxnSpPr>
          <p:cNvPr id="108" name="Google Shape;108;p1"/>
          <p:cNvCxnSpPr/>
          <p:nvPr/>
        </p:nvCxnSpPr>
        <p:spPr>
          <a:xfrm>
            <a:off x="10438375" y="5064972"/>
            <a:ext cx="978900" cy="0"/>
          </a:xfrm>
          <a:prstGeom prst="straightConnector1">
            <a:avLst/>
          </a:prstGeom>
          <a:noFill/>
          <a:ln cap="flat" cmpd="sng" w="762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7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700"/>
                                        <p:tgtEl>
                                          <p:spTgt spid="10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e13d24f94f_0_441"/>
          <p:cNvSpPr txBox="1"/>
          <p:nvPr>
            <p:ph type="ctrTitle"/>
          </p:nvPr>
        </p:nvSpPr>
        <p:spPr>
          <a:xfrm>
            <a:off x="568638" y="214312"/>
            <a:ext cx="6675000" cy="962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5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Executive Summary</a:t>
            </a:r>
            <a:endParaRPr sz="45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g3e13d24f94f_0_441"/>
          <p:cNvSpPr txBox="1"/>
          <p:nvPr>
            <p:ph idx="1" type="subTitle"/>
          </p:nvPr>
        </p:nvSpPr>
        <p:spPr>
          <a:xfrm>
            <a:off x="711525" y="1357325"/>
            <a:ext cx="4716300" cy="52263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700">
                <a:latin typeface="Impact"/>
                <a:ea typeface="Impact"/>
                <a:cs typeface="Impact"/>
                <a:sym typeface="Impact"/>
              </a:rPr>
              <a:t>Key Findings</a:t>
            </a:r>
            <a:endParaRPr sz="2700">
              <a:latin typeface="Impact"/>
              <a:ea typeface="Impact"/>
              <a:cs typeface="Impact"/>
              <a:sym typeface="Impact"/>
            </a:endParaRPr>
          </a:p>
          <a:p>
            <a:pPr indent="-3746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2300"/>
              <a:buFont typeface="EB Garamond ExtraBold"/>
              <a:buChar char="●"/>
            </a:pPr>
            <a:r>
              <a:rPr b="0" lang="en-US" sz="2300">
                <a:latin typeface="EB Garamond ExtraBold"/>
                <a:ea typeface="EB Garamond ExtraBold"/>
                <a:cs typeface="EB Garamond ExtraBold"/>
                <a:sym typeface="EB Garamond ExtraBold"/>
              </a:rPr>
              <a:t>Instagram advertising generated the highest modeled ROI</a:t>
            </a:r>
            <a:endParaRPr b="0" sz="2300">
              <a:latin typeface="EB Garamond ExtraBold"/>
              <a:ea typeface="EB Garamond ExtraBold"/>
              <a:cs typeface="EB Garamond ExtraBold"/>
              <a:sym typeface="EB Garamond ExtraBold"/>
            </a:endParaRPr>
          </a:p>
          <a:p>
            <a:pPr indent="-3746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300"/>
              <a:buFont typeface="EB Garamond ExtraBold"/>
              <a:buChar char="●"/>
            </a:pPr>
            <a:r>
              <a:rPr b="0" lang="en-US" sz="2300">
                <a:latin typeface="EB Garamond ExtraBold"/>
                <a:ea typeface="EB Garamond ExtraBold"/>
                <a:cs typeface="EB Garamond ExtraBold"/>
                <a:sym typeface="EB Garamond ExtraBold"/>
              </a:rPr>
              <a:t>Discount strategies negatively impacted profitability</a:t>
            </a:r>
            <a:endParaRPr b="0" sz="2300">
              <a:latin typeface="EB Garamond ExtraBold"/>
              <a:ea typeface="EB Garamond ExtraBold"/>
              <a:cs typeface="EB Garamond ExtraBold"/>
              <a:sym typeface="EB Garamond ExtraBold"/>
            </a:endParaRPr>
          </a:p>
          <a:p>
            <a:pPr indent="-3746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300"/>
              <a:buFont typeface="EB Garamond ExtraBold"/>
              <a:buChar char="●"/>
            </a:pPr>
            <a:r>
              <a:rPr b="0" lang="en-US" sz="2300">
                <a:latin typeface="EB Garamond ExtraBold"/>
                <a:ea typeface="EB Garamond ExtraBold"/>
                <a:cs typeface="EB Garamond ExtraBold"/>
                <a:sym typeface="EB Garamond ExtraBold"/>
              </a:rPr>
              <a:t>Predictive models indicate risk of missing monthly profitability targets</a:t>
            </a:r>
            <a:endParaRPr b="0" sz="2300">
              <a:latin typeface="EB Garamond ExtraBold"/>
              <a:ea typeface="EB Garamond ExtraBold"/>
              <a:cs typeface="EB Garamond ExtraBold"/>
              <a:sym typeface="EB Garamond ExtraBold"/>
            </a:endParaRPr>
          </a:p>
          <a:p>
            <a:pPr indent="-3746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300"/>
              <a:buFont typeface="EB Garamond ExtraBold"/>
              <a:buChar char="●"/>
            </a:pPr>
            <a:r>
              <a:rPr b="0" lang="en-US" sz="2300">
                <a:latin typeface="EB Garamond ExtraBold"/>
                <a:ea typeface="EB Garamond ExtraBold"/>
                <a:cs typeface="EB Garamond ExtraBold"/>
                <a:sym typeface="EB Garamond ExtraBold"/>
              </a:rPr>
              <a:t>Regression models outperformed decision tree models in forecast accuracy</a:t>
            </a:r>
            <a:endParaRPr b="0" sz="2300">
              <a:latin typeface="EB Garamond ExtraBold"/>
              <a:ea typeface="EB Garamond ExtraBold"/>
              <a:cs typeface="EB Garamond ExtraBold"/>
              <a:sym typeface="EB Garamond ExtraBold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g3e13d24f94f_0_441"/>
          <p:cNvSpPr txBox="1"/>
          <p:nvPr>
            <p:ph idx="1" type="subTitle"/>
          </p:nvPr>
        </p:nvSpPr>
        <p:spPr>
          <a:xfrm>
            <a:off x="6310325" y="1357325"/>
            <a:ext cx="5559300" cy="40050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-US" sz="2700">
                <a:latin typeface="Impact"/>
                <a:ea typeface="Impact"/>
                <a:cs typeface="Impact"/>
                <a:sym typeface="Impact"/>
              </a:rPr>
              <a:t>Strategic Recommendations</a:t>
            </a:r>
            <a:endParaRPr sz="2700">
              <a:latin typeface="Impact"/>
              <a:ea typeface="Impact"/>
              <a:cs typeface="Impact"/>
              <a:sym typeface="Impact"/>
            </a:endParaRPr>
          </a:p>
          <a:p>
            <a:pPr indent="-3746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2300"/>
              <a:buFont typeface="EB Garamond ExtraBold"/>
              <a:buChar char="●"/>
            </a:pPr>
            <a:r>
              <a:rPr b="0" lang="en-US" sz="2300">
                <a:latin typeface="EB Garamond ExtraBold"/>
                <a:ea typeface="EB Garamond ExtraBold"/>
                <a:cs typeface="EB Garamond ExtraBold"/>
                <a:sym typeface="EB Garamond ExtraBold"/>
              </a:rPr>
              <a:t>Increase Instagram advertising  allocation</a:t>
            </a:r>
            <a:endParaRPr b="0" sz="2300">
              <a:latin typeface="EB Garamond ExtraBold"/>
              <a:ea typeface="EB Garamond ExtraBold"/>
              <a:cs typeface="EB Garamond ExtraBold"/>
              <a:sym typeface="EB Garamond ExtraBold"/>
            </a:endParaRPr>
          </a:p>
          <a:p>
            <a:pPr indent="-3746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300"/>
              <a:buFont typeface="EB Garamond ExtraBold"/>
              <a:buChar char="●"/>
            </a:pPr>
            <a:r>
              <a:rPr b="0" lang="en-US" sz="2300">
                <a:latin typeface="EB Garamond ExtraBold"/>
                <a:ea typeface="EB Garamond ExtraBold"/>
                <a:cs typeface="EB Garamond ExtraBold"/>
                <a:sym typeface="EB Garamond ExtraBold"/>
              </a:rPr>
              <a:t>Reduce dependency on discounting</a:t>
            </a:r>
            <a:endParaRPr b="0" sz="2300">
              <a:latin typeface="EB Garamond ExtraBold"/>
              <a:ea typeface="EB Garamond ExtraBold"/>
              <a:cs typeface="EB Garamond ExtraBold"/>
              <a:sym typeface="EB Garamond ExtraBold"/>
            </a:endParaRPr>
          </a:p>
          <a:p>
            <a:pPr indent="-3746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300"/>
              <a:buFont typeface="EB Garamond ExtraBold"/>
              <a:buChar char="●"/>
            </a:pPr>
            <a:r>
              <a:rPr b="0" lang="en-US" sz="2300">
                <a:latin typeface="EB Garamond ExtraBold"/>
                <a:ea typeface="EB Garamond ExtraBold"/>
                <a:cs typeface="EB Garamond ExtraBold"/>
                <a:sym typeface="EB Garamond ExtraBold"/>
              </a:rPr>
              <a:t>Use short-term exponential smoothing forecasts</a:t>
            </a:r>
            <a:endParaRPr b="0" sz="2300">
              <a:latin typeface="EB Garamond ExtraBold"/>
              <a:ea typeface="EB Garamond ExtraBold"/>
              <a:cs typeface="EB Garamond ExtraBold"/>
              <a:sym typeface="EB Garamond ExtraBold"/>
            </a:endParaRPr>
          </a:p>
          <a:p>
            <a:pPr indent="-3746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300"/>
              <a:buFont typeface="EB Garamond ExtraBold"/>
              <a:buChar char="●"/>
            </a:pPr>
            <a:r>
              <a:rPr b="0" lang="en-US" sz="2300">
                <a:latin typeface="EB Garamond ExtraBold"/>
                <a:ea typeface="EB Garamond ExtraBold"/>
                <a:cs typeface="EB Garamond ExtraBold"/>
                <a:sym typeface="EB Garamond ExtraBold"/>
              </a:rPr>
              <a:t>Monitor profitability through predictive KPI dashboards</a:t>
            </a:r>
            <a:endParaRPr b="0" sz="2300">
              <a:latin typeface="EB Garamond ExtraBold"/>
              <a:ea typeface="EB Garamond ExtraBold"/>
              <a:cs typeface="EB Garamond ExtraBold"/>
              <a:sym typeface="EB Garamond ExtraBold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"/>
          <p:cNvSpPr txBox="1"/>
          <p:nvPr>
            <p:ph type="title"/>
          </p:nvPr>
        </p:nvSpPr>
        <p:spPr>
          <a:xfrm>
            <a:off x="603049" y="300292"/>
            <a:ext cx="10890900" cy="1097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4761"/>
              </a:buClr>
              <a:buSzPts val="4000"/>
              <a:buFont typeface="Arial"/>
              <a:buNone/>
            </a:pPr>
            <a:r>
              <a:rPr b="1" i="0" lang="en-US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Data Exploration and Summary</a:t>
            </a:r>
            <a:endParaRPr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p2"/>
          <p:cNvSpPr txBox="1"/>
          <p:nvPr>
            <p:ph idx="1" type="body"/>
          </p:nvPr>
        </p:nvSpPr>
        <p:spPr>
          <a:xfrm>
            <a:off x="1026725" y="1608113"/>
            <a:ext cx="3492900" cy="2227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en-US" sz="2500">
                <a:solidFill>
                  <a:schemeClr val="lt1"/>
                </a:solidFill>
                <a:latin typeface="EB Garamond ExtraBold"/>
                <a:ea typeface="EB Garamond ExtraBold"/>
                <a:cs typeface="EB Garamond ExtraBold"/>
                <a:sym typeface="EB Garamond ExtraBold"/>
              </a:rPr>
              <a:t>Priority is given to Facebook advertising, spending </a:t>
            </a:r>
            <a:r>
              <a:rPr b="1" lang="en-US" sz="2500">
                <a:solidFill>
                  <a:srgbClr val="073763"/>
                </a:solidFill>
                <a:latin typeface="Impact"/>
                <a:ea typeface="Impact"/>
                <a:cs typeface="Impact"/>
                <a:sym typeface="Impact"/>
              </a:rPr>
              <a:t>$297.27</a:t>
            </a:r>
            <a:r>
              <a:rPr lang="en-US" sz="2500">
                <a:solidFill>
                  <a:schemeClr val="lt1"/>
                </a:solidFill>
                <a:latin typeface="EB Garamond ExtraBold"/>
                <a:ea typeface="EB Garamond ExtraBold"/>
                <a:cs typeface="EB Garamond ExtraBold"/>
                <a:sym typeface="EB Garamond ExtraBold"/>
              </a:rPr>
              <a:t> on average per month. </a:t>
            </a:r>
            <a:endParaRPr sz="2500">
              <a:solidFill>
                <a:schemeClr val="lt1"/>
              </a:solidFill>
              <a:latin typeface="EB Garamond ExtraBold"/>
              <a:ea typeface="EB Garamond ExtraBold"/>
              <a:cs typeface="EB Garamond ExtraBold"/>
              <a:sym typeface="EB Garamond ExtraBold"/>
            </a:endParaRPr>
          </a:p>
        </p:txBody>
      </p:sp>
      <p:sp>
        <p:nvSpPr>
          <p:cNvPr id="122" name="Google Shape;122;p2"/>
          <p:cNvSpPr/>
          <p:nvPr/>
        </p:nvSpPr>
        <p:spPr>
          <a:xfrm>
            <a:off x="1145750" y="3716550"/>
            <a:ext cx="2778600" cy="2871000"/>
          </a:xfrm>
          <a:prstGeom prst="cube">
            <a:avLst>
              <a:gd fmla="val 25000" name="adj"/>
            </a:avLst>
          </a:prstGeom>
          <a:solidFill>
            <a:schemeClr val="dk2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123" name="Google Shape;123;p2"/>
          <p:cNvSpPr/>
          <p:nvPr/>
        </p:nvSpPr>
        <p:spPr>
          <a:xfrm>
            <a:off x="4825763" y="5138525"/>
            <a:ext cx="2778600" cy="1425600"/>
          </a:xfrm>
          <a:prstGeom prst="cube">
            <a:avLst>
              <a:gd fmla="val 25000" name="adj"/>
            </a:avLst>
          </a:prstGeom>
          <a:solidFill>
            <a:schemeClr val="dk2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124" name="Google Shape;124;p2"/>
          <p:cNvSpPr/>
          <p:nvPr/>
        </p:nvSpPr>
        <p:spPr>
          <a:xfrm>
            <a:off x="8685675" y="4903830"/>
            <a:ext cx="2339400" cy="1623600"/>
          </a:xfrm>
          <a:prstGeom prst="cube">
            <a:avLst>
              <a:gd fmla="val 25000" name="adj"/>
            </a:avLst>
          </a:prstGeom>
          <a:solidFill>
            <a:schemeClr val="dk2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125" name="Google Shape;125;p2"/>
          <p:cNvSpPr txBox="1"/>
          <p:nvPr/>
        </p:nvSpPr>
        <p:spPr>
          <a:xfrm>
            <a:off x="1341625" y="5138525"/>
            <a:ext cx="1660200" cy="142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0" lang="en-US" sz="2800" u="none" cap="none" strike="noStrike">
                <a:solidFill>
                  <a:schemeClr val="lt1"/>
                </a:solidFill>
                <a:latin typeface="Impact"/>
                <a:ea typeface="Impact"/>
                <a:cs typeface="Impact"/>
                <a:sym typeface="Impact"/>
              </a:rPr>
              <a:t>Facebook</a:t>
            </a:r>
            <a:r>
              <a:rPr b="1" i="0" lang="en-US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i="0" lang="en-US" sz="2000" u="none" cap="none" strike="noStrike">
                <a:solidFill>
                  <a:schemeClr val="lt1"/>
                </a:solidFill>
                <a:latin typeface="Impact"/>
                <a:ea typeface="Impact"/>
                <a:cs typeface="Impact"/>
                <a:sym typeface="Impact"/>
              </a:rPr>
              <a:t>$297.27</a:t>
            </a:r>
            <a:endParaRPr i="0" sz="2000" u="none" cap="none" strike="noStrike">
              <a:solidFill>
                <a:schemeClr val="dk1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126" name="Google Shape;126;p2"/>
          <p:cNvSpPr txBox="1"/>
          <p:nvPr/>
        </p:nvSpPr>
        <p:spPr>
          <a:xfrm>
            <a:off x="4968637" y="5530884"/>
            <a:ext cx="2092200" cy="10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i="0" lang="en-US" sz="2800" u="none" cap="none" strike="noStrike">
                <a:solidFill>
                  <a:schemeClr val="lt1"/>
                </a:solidFill>
                <a:latin typeface="Impact"/>
                <a:ea typeface="Impact"/>
                <a:cs typeface="Impact"/>
                <a:sym typeface="Impact"/>
              </a:rPr>
              <a:t>Instagram</a:t>
            </a:r>
            <a:endParaRPr i="0" sz="2800" u="none" cap="none" strike="noStrike">
              <a:solidFill>
                <a:schemeClr val="lt1"/>
              </a:solidFill>
              <a:latin typeface="Impact"/>
              <a:ea typeface="Impact"/>
              <a:cs typeface="Impact"/>
              <a:sym typeface="Impac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i="0" lang="en-US" sz="2000" u="none" cap="none" strike="noStrike">
                <a:solidFill>
                  <a:schemeClr val="lt1"/>
                </a:solidFill>
                <a:latin typeface="Impact"/>
                <a:ea typeface="Impact"/>
                <a:cs typeface="Impact"/>
                <a:sym typeface="Impact"/>
              </a:rPr>
              <a:t>$92.53 </a:t>
            </a:r>
            <a:endParaRPr i="0" sz="2000" u="none" cap="none" strike="noStrike">
              <a:solidFill>
                <a:schemeClr val="dk1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127" name="Google Shape;127;p2"/>
          <p:cNvSpPr txBox="1"/>
          <p:nvPr/>
        </p:nvSpPr>
        <p:spPr>
          <a:xfrm>
            <a:off x="8912150" y="5457254"/>
            <a:ext cx="1542900" cy="109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i="0" lang="en-US" sz="2800" u="none" cap="none" strike="noStrike">
                <a:solidFill>
                  <a:schemeClr val="lt1"/>
                </a:solidFill>
                <a:latin typeface="Impact"/>
                <a:ea typeface="Impact"/>
                <a:cs typeface="Impact"/>
                <a:sym typeface="Impact"/>
              </a:rPr>
              <a:t>Discount</a:t>
            </a:r>
            <a:endParaRPr i="0" sz="2800" u="none" cap="none" strike="noStrike">
              <a:solidFill>
                <a:schemeClr val="lt1"/>
              </a:solidFill>
              <a:latin typeface="Impact"/>
              <a:ea typeface="Impact"/>
              <a:cs typeface="Impact"/>
              <a:sym typeface="Impac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0" lang="en-US" sz="2000" u="none" cap="none" strike="noStrike">
                <a:solidFill>
                  <a:schemeClr val="lt1"/>
                </a:solidFill>
                <a:latin typeface="Impact"/>
                <a:ea typeface="Impact"/>
                <a:cs typeface="Impact"/>
                <a:sym typeface="Impact"/>
              </a:rPr>
              <a:t>12.38%</a:t>
            </a:r>
            <a:endParaRPr i="0" sz="2000" u="none" cap="none" strike="noStrike">
              <a:solidFill>
                <a:schemeClr val="dk1"/>
              </a:solidFill>
              <a:latin typeface="Impact"/>
              <a:ea typeface="Impact"/>
              <a:cs typeface="Impact"/>
              <a:sym typeface="Impac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128" name="Google Shape;128;p2"/>
          <p:cNvSpPr txBox="1"/>
          <p:nvPr>
            <p:ph idx="1" type="body"/>
          </p:nvPr>
        </p:nvSpPr>
        <p:spPr>
          <a:xfrm>
            <a:off x="7980675" y="1608125"/>
            <a:ext cx="3977400" cy="1919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en-US" sz="2500">
                <a:solidFill>
                  <a:schemeClr val="lt1"/>
                </a:solidFill>
                <a:latin typeface="EB Garamond ExtraBold"/>
                <a:ea typeface="EB Garamond ExtraBold"/>
                <a:cs typeface="EB Garamond ExtraBold"/>
                <a:sym typeface="EB Garamond ExtraBold"/>
              </a:rPr>
              <a:t>The median discount to customers is </a:t>
            </a:r>
            <a:r>
              <a:rPr b="1" lang="en-US" sz="2500">
                <a:solidFill>
                  <a:srgbClr val="073763"/>
                </a:solidFill>
                <a:latin typeface="Impact"/>
                <a:ea typeface="Impact"/>
                <a:cs typeface="Impact"/>
                <a:sym typeface="Impact"/>
              </a:rPr>
              <a:t>12%</a:t>
            </a:r>
            <a:r>
              <a:rPr lang="en-US" sz="2500">
                <a:solidFill>
                  <a:schemeClr val="lt1"/>
                </a:solidFill>
                <a:latin typeface="EB Garamond ExtraBold"/>
                <a:ea typeface="EB Garamond ExtraBold"/>
                <a:cs typeface="EB Garamond ExtraBold"/>
                <a:sym typeface="EB Garamond ExtraBold"/>
              </a:rPr>
              <a:t>, whereas the mean is</a:t>
            </a:r>
            <a:r>
              <a:rPr lang="en-US" sz="2500">
                <a:solidFill>
                  <a:srgbClr val="073763"/>
                </a:solidFill>
                <a:latin typeface="EB Garamond ExtraBold"/>
                <a:ea typeface="EB Garamond ExtraBold"/>
                <a:cs typeface="EB Garamond ExtraBold"/>
                <a:sym typeface="EB Garamond ExtraBold"/>
              </a:rPr>
              <a:t> </a:t>
            </a:r>
            <a:r>
              <a:rPr b="1" lang="en-US" sz="2500">
                <a:solidFill>
                  <a:srgbClr val="073763"/>
                </a:solidFill>
                <a:latin typeface="Impact"/>
                <a:ea typeface="Impact"/>
                <a:cs typeface="Impact"/>
                <a:sym typeface="Impact"/>
              </a:rPr>
              <a:t>12.38%</a:t>
            </a:r>
            <a:r>
              <a:rPr lang="en-US" sz="2500">
                <a:solidFill>
                  <a:schemeClr val="lt1"/>
                </a:solidFill>
                <a:latin typeface="EB Garamond ExtraBold"/>
                <a:ea typeface="EB Garamond ExtraBold"/>
                <a:cs typeface="EB Garamond ExtraBold"/>
                <a:sym typeface="EB Garamond ExtraBold"/>
              </a:rPr>
              <a:t>, exhibiting consistency and stability.</a:t>
            </a:r>
            <a:endParaRPr sz="2500">
              <a:solidFill>
                <a:schemeClr val="lt1"/>
              </a:solidFill>
              <a:latin typeface="EB Garamond ExtraBold"/>
              <a:ea typeface="EB Garamond ExtraBold"/>
              <a:cs typeface="EB Garamond ExtraBold"/>
              <a:sym typeface="EB Garamond ExtraBold"/>
            </a:endParaRPr>
          </a:p>
        </p:txBody>
      </p:sp>
      <p:sp>
        <p:nvSpPr>
          <p:cNvPr id="129" name="Google Shape;129;p2"/>
          <p:cNvSpPr txBox="1"/>
          <p:nvPr>
            <p:ph idx="1" type="body"/>
          </p:nvPr>
        </p:nvSpPr>
        <p:spPr>
          <a:xfrm>
            <a:off x="5053750" y="1608125"/>
            <a:ext cx="2583300" cy="253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en-US" sz="2500">
                <a:solidFill>
                  <a:schemeClr val="lt1"/>
                </a:solidFill>
                <a:latin typeface="EB Garamond ExtraBold"/>
                <a:ea typeface="EB Garamond ExtraBold"/>
                <a:cs typeface="EB Garamond ExtraBold"/>
                <a:sym typeface="EB Garamond ExtraBold"/>
              </a:rPr>
              <a:t>Instagram advertising spend averaged </a:t>
            </a:r>
            <a:r>
              <a:rPr b="1" lang="en-US" sz="2500">
                <a:solidFill>
                  <a:srgbClr val="073763"/>
                </a:solidFill>
                <a:latin typeface="Impact"/>
                <a:ea typeface="Impact"/>
                <a:cs typeface="Impact"/>
                <a:sym typeface="Impact"/>
              </a:rPr>
              <a:t>$92.53</a:t>
            </a:r>
            <a:r>
              <a:rPr lang="en-US" sz="2500">
                <a:solidFill>
                  <a:srgbClr val="073763"/>
                </a:solidFill>
                <a:latin typeface="EB Garamond ExtraBold"/>
                <a:ea typeface="EB Garamond ExtraBold"/>
                <a:cs typeface="EB Garamond ExtraBold"/>
                <a:sym typeface="EB Garamond ExtraBold"/>
              </a:rPr>
              <a:t>, </a:t>
            </a:r>
            <a:r>
              <a:rPr lang="en-US" sz="2500">
                <a:solidFill>
                  <a:schemeClr val="lt1"/>
                </a:solidFill>
                <a:latin typeface="EB Garamond ExtraBold"/>
                <a:ea typeface="EB Garamond ExtraBold"/>
                <a:cs typeface="EB Garamond ExtraBold"/>
                <a:sym typeface="EB Garamond ExtraBold"/>
              </a:rPr>
              <a:t>approximately two-thirds lower than Facebook.</a:t>
            </a:r>
            <a:endParaRPr sz="2500">
              <a:solidFill>
                <a:schemeClr val="lt1"/>
              </a:solidFill>
              <a:latin typeface="EB Garamond ExtraBold"/>
              <a:ea typeface="EB Garamond ExtraBold"/>
              <a:cs typeface="EB Garamond ExtraBold"/>
              <a:sym typeface="EB Garamond ExtraBold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3"/>
          <p:cNvSpPr txBox="1"/>
          <p:nvPr>
            <p:ph type="title"/>
          </p:nvPr>
        </p:nvSpPr>
        <p:spPr>
          <a:xfrm>
            <a:off x="650535" y="252806"/>
            <a:ext cx="10890929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4761"/>
              </a:buClr>
              <a:buSzPts val="4200"/>
              <a:buFont typeface="Arial"/>
              <a:buNone/>
            </a:pPr>
            <a:r>
              <a:rPr b="1" i="0" lang="en-US" sz="42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Visualizing Relationships</a:t>
            </a:r>
            <a:endParaRPr sz="42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" name="Google Shape;135;p3"/>
          <p:cNvSpPr txBox="1"/>
          <p:nvPr>
            <p:ph idx="1" type="body"/>
          </p:nvPr>
        </p:nvSpPr>
        <p:spPr>
          <a:xfrm>
            <a:off x="259511" y="4294722"/>
            <a:ext cx="3486300" cy="16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457200" rtl="0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en-US" sz="2500">
                <a:solidFill>
                  <a:schemeClr val="lt1"/>
                </a:solidFill>
                <a:latin typeface="EB Garamond ExtraBold"/>
                <a:ea typeface="EB Garamond ExtraBold"/>
                <a:cs typeface="EB Garamond ExtraBold"/>
                <a:sym typeface="EB Garamond ExtraBold"/>
              </a:rPr>
              <a:t>Facebook displays the strongest positive linear relationship to Sales.</a:t>
            </a:r>
            <a:endParaRPr sz="2500">
              <a:solidFill>
                <a:schemeClr val="lt1"/>
              </a:solidFill>
              <a:latin typeface="EB Garamond ExtraBold"/>
              <a:ea typeface="EB Garamond ExtraBold"/>
              <a:cs typeface="EB Garamond ExtraBold"/>
              <a:sym typeface="EB Garamond ExtraBold"/>
            </a:endParaRPr>
          </a:p>
        </p:txBody>
      </p:sp>
      <p:pic>
        <p:nvPicPr>
          <p:cNvPr id="136" name="Google Shape;136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17185" y="1280793"/>
            <a:ext cx="3822576" cy="27627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37" name="Google Shape;137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287452" y="1280784"/>
            <a:ext cx="3807649" cy="27627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" name="Google Shape;138;p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342460" y="1280784"/>
            <a:ext cx="3416750" cy="2762776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3"/>
          <p:cNvSpPr txBox="1"/>
          <p:nvPr/>
        </p:nvSpPr>
        <p:spPr>
          <a:xfrm>
            <a:off x="3884842" y="4188597"/>
            <a:ext cx="4242600" cy="276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ctr">
              <a:spcBef>
                <a:spcPts val="500"/>
              </a:spcBef>
              <a:spcAft>
                <a:spcPts val="0"/>
              </a:spcAft>
              <a:buNone/>
            </a:pPr>
            <a:r>
              <a:rPr lang="en-US" sz="2500">
                <a:solidFill>
                  <a:schemeClr val="lt1"/>
                </a:solidFill>
                <a:latin typeface="EB Garamond ExtraBold"/>
                <a:ea typeface="EB Garamond ExtraBold"/>
                <a:cs typeface="EB Garamond ExtraBold"/>
                <a:sym typeface="EB Garamond ExtraBold"/>
              </a:rPr>
              <a:t>Instagram shows a less consistent linear relationship. However, the data points reside at the same sales values as FB with less overall spending.</a:t>
            </a:r>
            <a:endParaRPr sz="2500">
              <a:solidFill>
                <a:schemeClr val="lt1"/>
              </a:solidFill>
              <a:latin typeface="EB Garamond ExtraBold"/>
              <a:ea typeface="EB Garamond ExtraBold"/>
              <a:cs typeface="EB Garamond ExtraBold"/>
              <a:sym typeface="EB Garamond ExtraBol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00">
              <a:solidFill>
                <a:schemeClr val="lt1"/>
              </a:solidFill>
              <a:latin typeface="EB Garamond ExtraBold"/>
              <a:ea typeface="EB Garamond ExtraBold"/>
              <a:cs typeface="EB Garamond ExtraBold"/>
              <a:sym typeface="EB Garamond ExtraBold"/>
            </a:endParaRPr>
          </a:p>
        </p:txBody>
      </p:sp>
      <p:sp>
        <p:nvSpPr>
          <p:cNvPr id="140" name="Google Shape;140;p3"/>
          <p:cNvSpPr txBox="1"/>
          <p:nvPr>
            <p:ph idx="1" type="body"/>
          </p:nvPr>
        </p:nvSpPr>
        <p:spPr>
          <a:xfrm>
            <a:off x="8230517" y="4294713"/>
            <a:ext cx="33492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457200" rtl="0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en-US" sz="2500">
                <a:solidFill>
                  <a:schemeClr val="lt1"/>
                </a:solidFill>
                <a:latin typeface="EB Garamond ExtraBold"/>
                <a:ea typeface="EB Garamond ExtraBold"/>
                <a:cs typeface="EB Garamond ExtraBold"/>
                <a:sym typeface="EB Garamond ExtraBold"/>
              </a:rPr>
              <a:t>Discount rates demonstrated no significant direct relationship with sales performance.</a:t>
            </a:r>
            <a:endParaRPr sz="2500">
              <a:solidFill>
                <a:schemeClr val="lt1"/>
              </a:solidFill>
              <a:latin typeface="EB Garamond ExtraBold"/>
              <a:ea typeface="EB Garamond ExtraBold"/>
              <a:cs typeface="EB Garamond ExtraBold"/>
              <a:sym typeface="EB Garamond ExtraBold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4"/>
          <p:cNvSpPr/>
          <p:nvPr/>
        </p:nvSpPr>
        <p:spPr>
          <a:xfrm>
            <a:off x="1741725" y="4590150"/>
            <a:ext cx="2050200" cy="2195100"/>
          </a:xfrm>
          <a:prstGeom prst="can">
            <a:avLst>
              <a:gd fmla="val 25000" name="adj"/>
            </a:avLst>
          </a:prstGeom>
          <a:solidFill>
            <a:schemeClr val="dk2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146" name="Google Shape;146;p4"/>
          <p:cNvSpPr txBox="1"/>
          <p:nvPr>
            <p:ph type="title"/>
          </p:nvPr>
        </p:nvSpPr>
        <p:spPr>
          <a:xfrm>
            <a:off x="650535" y="252806"/>
            <a:ext cx="10890929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4761"/>
              </a:buClr>
              <a:buSzPts val="4200"/>
              <a:buFont typeface="Arial"/>
              <a:buNone/>
            </a:pPr>
            <a:r>
              <a:rPr b="1" i="0" lang="en-US" sz="42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Regression Analysis</a:t>
            </a:r>
            <a:endParaRPr sz="42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" name="Google Shape;147;p4"/>
          <p:cNvSpPr txBox="1"/>
          <p:nvPr>
            <p:ph idx="1" type="body"/>
          </p:nvPr>
        </p:nvSpPr>
        <p:spPr>
          <a:xfrm>
            <a:off x="-174100" y="1621800"/>
            <a:ext cx="4432200" cy="4201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>
                <a:solidFill>
                  <a:schemeClr val="lt1"/>
                </a:solidFill>
                <a:latin typeface="EB Garamond ExtraBold"/>
                <a:ea typeface="EB Garamond ExtraBold"/>
                <a:cs typeface="EB Garamond ExtraBold"/>
                <a:sym typeface="EB Garamond ExtraBold"/>
              </a:rPr>
              <a:t>For every </a:t>
            </a:r>
            <a:r>
              <a:rPr b="1" lang="en-US" sz="2500">
                <a:solidFill>
                  <a:schemeClr val="lt1"/>
                </a:solidFill>
                <a:latin typeface="Impact"/>
                <a:ea typeface="Impact"/>
                <a:cs typeface="Impact"/>
                <a:sym typeface="Impact"/>
              </a:rPr>
              <a:t>$1</a:t>
            </a:r>
            <a:r>
              <a:rPr lang="en-US" sz="2500">
                <a:solidFill>
                  <a:schemeClr val="lt1"/>
                </a:solidFill>
                <a:latin typeface="EB Garamond ExtraBold"/>
                <a:ea typeface="EB Garamond ExtraBold"/>
                <a:cs typeface="EB Garamond ExtraBold"/>
                <a:sym typeface="EB Garamond ExtraBold"/>
              </a:rPr>
              <a:t> spent on a FB ad, sales increase by </a:t>
            </a:r>
            <a:r>
              <a:rPr b="1" lang="en-US" sz="2500">
                <a:solidFill>
                  <a:schemeClr val="lt1"/>
                </a:solidFill>
                <a:latin typeface="Impact"/>
                <a:ea typeface="Impact"/>
                <a:cs typeface="Impact"/>
                <a:sym typeface="Impact"/>
              </a:rPr>
              <a:t>$12.86.</a:t>
            </a:r>
            <a:endParaRPr b="1" sz="2500">
              <a:solidFill>
                <a:schemeClr val="lt1"/>
              </a:solidFill>
              <a:latin typeface="Impact"/>
              <a:ea typeface="Impact"/>
              <a:cs typeface="Impact"/>
              <a:sym typeface="Impact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00">
              <a:solidFill>
                <a:schemeClr val="lt1"/>
              </a:solidFill>
              <a:latin typeface="EB Garamond ExtraBold"/>
              <a:ea typeface="EB Garamond ExtraBold"/>
              <a:cs typeface="EB Garamond ExtraBold"/>
              <a:sym typeface="EB Garamond ExtraBold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00">
              <a:solidFill>
                <a:schemeClr val="lt1"/>
              </a:solidFill>
              <a:latin typeface="EB Garamond ExtraBold"/>
              <a:ea typeface="EB Garamond ExtraBold"/>
              <a:cs typeface="EB Garamond ExtraBold"/>
              <a:sym typeface="EB Garamond ExtraBold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>
                <a:solidFill>
                  <a:schemeClr val="lt1"/>
                </a:solidFill>
                <a:latin typeface="EB Garamond ExtraBold"/>
                <a:ea typeface="EB Garamond ExtraBold"/>
                <a:cs typeface="EB Garamond ExtraBold"/>
                <a:sym typeface="EB Garamond ExtraBold"/>
              </a:rPr>
              <a:t>P-value </a:t>
            </a:r>
            <a:r>
              <a:rPr b="1" lang="en-US" sz="2500">
                <a:solidFill>
                  <a:schemeClr val="lt1"/>
                </a:solidFill>
                <a:latin typeface="Impact"/>
                <a:ea typeface="Impact"/>
                <a:cs typeface="Impact"/>
                <a:sym typeface="Impact"/>
              </a:rPr>
              <a:t>(.047)</a:t>
            </a:r>
            <a:r>
              <a:rPr lang="en-US" sz="2500">
                <a:solidFill>
                  <a:schemeClr val="lt1"/>
                </a:solidFill>
                <a:latin typeface="EB Garamond ExtraBold"/>
                <a:ea typeface="EB Garamond ExtraBold"/>
                <a:cs typeface="EB Garamond ExtraBold"/>
                <a:sym typeface="EB Garamond ExtraBold"/>
              </a:rPr>
              <a:t> is showing a strong correlation, but this can be further refined.</a:t>
            </a:r>
            <a:endParaRPr sz="2500">
              <a:solidFill>
                <a:schemeClr val="lt1"/>
              </a:solidFill>
              <a:latin typeface="EB Garamond ExtraBold"/>
              <a:ea typeface="EB Garamond ExtraBold"/>
              <a:cs typeface="EB Garamond ExtraBold"/>
              <a:sym typeface="EB Garamond ExtraBold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50">
              <a:solidFill>
                <a:schemeClr val="lt1"/>
              </a:solidFill>
              <a:latin typeface="Impact"/>
              <a:ea typeface="Impact"/>
              <a:cs typeface="Impact"/>
              <a:sym typeface="Impact"/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566"/>
              <a:buNone/>
            </a:pPr>
            <a:r>
              <a:t/>
            </a:r>
            <a:endParaRPr>
              <a:solidFill>
                <a:schemeClr val="lt1"/>
              </a:solidFill>
              <a:latin typeface="Impact"/>
              <a:ea typeface="Impact"/>
              <a:cs typeface="Impact"/>
              <a:sym typeface="Impact"/>
            </a:endParaRPr>
          </a:p>
          <a:p>
            <a:pPr indent="45720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566"/>
              <a:buNone/>
            </a:pPr>
            <a:r>
              <a:rPr lang="en-US" sz="2800">
                <a:solidFill>
                  <a:schemeClr val="lt1"/>
                </a:solidFill>
                <a:latin typeface="Impact"/>
                <a:ea typeface="Impact"/>
                <a:cs typeface="Impact"/>
                <a:sym typeface="Impact"/>
              </a:rPr>
              <a:t>R</a:t>
            </a:r>
            <a:r>
              <a:rPr baseline="30000" lang="en-US" sz="2800">
                <a:solidFill>
                  <a:schemeClr val="lt1"/>
                </a:solidFill>
                <a:latin typeface="Impact"/>
                <a:ea typeface="Impact"/>
                <a:cs typeface="Impact"/>
                <a:sym typeface="Impact"/>
              </a:rPr>
              <a:t>2</a:t>
            </a:r>
            <a:r>
              <a:rPr lang="en-US" sz="2800">
                <a:solidFill>
                  <a:schemeClr val="lt1"/>
                </a:solidFill>
                <a:latin typeface="Impact"/>
                <a:ea typeface="Impact"/>
                <a:cs typeface="Impact"/>
                <a:sym typeface="Impact"/>
              </a:rPr>
              <a:t>-</a:t>
            </a:r>
            <a:r>
              <a:rPr lang="en-US" sz="2800">
                <a:solidFill>
                  <a:schemeClr val="lt1"/>
                </a:solidFill>
                <a:latin typeface="Impact"/>
                <a:ea typeface="Impact"/>
                <a:cs typeface="Impact"/>
                <a:sym typeface="Impact"/>
              </a:rPr>
              <a:t>value: </a:t>
            </a:r>
            <a:endParaRPr sz="2800">
              <a:solidFill>
                <a:schemeClr val="lt1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pic>
        <p:nvPicPr>
          <p:cNvPr id="148" name="Google Shape;148;p4" title="Screen Shot 2026-03-30 at 3.17.48 PM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58097" y="1215115"/>
            <a:ext cx="7655701" cy="4104626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4"/>
          <p:cNvSpPr txBox="1"/>
          <p:nvPr/>
        </p:nvSpPr>
        <p:spPr>
          <a:xfrm>
            <a:off x="2068279" y="5479150"/>
            <a:ext cx="1778100" cy="119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600"/>
              <a:buFont typeface="Arial"/>
              <a:buNone/>
            </a:pPr>
            <a:r>
              <a:rPr b="0" i="0" lang="en-US" sz="4600" u="none" cap="none" strike="noStrike">
                <a:solidFill>
                  <a:schemeClr val="lt1"/>
                </a:solidFill>
                <a:latin typeface="Impact"/>
                <a:ea typeface="Impact"/>
                <a:cs typeface="Impact"/>
                <a:sym typeface="Impact"/>
              </a:rPr>
              <a:t>45.1%</a:t>
            </a:r>
            <a:endParaRPr b="0" i="0" sz="4600" u="none" cap="none" strike="noStrike">
              <a:solidFill>
                <a:schemeClr val="lt1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150" name="Google Shape;150;p4"/>
          <p:cNvSpPr txBox="1"/>
          <p:nvPr>
            <p:ph idx="1" type="body"/>
          </p:nvPr>
        </p:nvSpPr>
        <p:spPr>
          <a:xfrm>
            <a:off x="4330700" y="5407263"/>
            <a:ext cx="7510500" cy="14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>
                <a:solidFill>
                  <a:schemeClr val="lt1"/>
                </a:solidFill>
                <a:latin typeface="EB Garamond ExtraBold"/>
                <a:ea typeface="EB Garamond ExtraBold"/>
                <a:cs typeface="EB Garamond ExtraBold"/>
                <a:sym typeface="EB Garamond ExtraBold"/>
              </a:rPr>
              <a:t>This is a moderate to low </a:t>
            </a:r>
            <a:r>
              <a:rPr b="1" lang="en-US" sz="2500">
                <a:solidFill>
                  <a:schemeClr val="lt1"/>
                </a:solidFill>
                <a:latin typeface="Impact"/>
                <a:ea typeface="Impact"/>
                <a:cs typeface="Impact"/>
                <a:sym typeface="Impact"/>
              </a:rPr>
              <a:t>R</a:t>
            </a:r>
            <a:r>
              <a:rPr b="1" baseline="30000" lang="en-US" sz="2500">
                <a:solidFill>
                  <a:schemeClr val="lt1"/>
                </a:solidFill>
                <a:latin typeface="Impact"/>
                <a:ea typeface="Impact"/>
                <a:cs typeface="Impact"/>
                <a:sym typeface="Impact"/>
              </a:rPr>
              <a:t>2</a:t>
            </a:r>
            <a:r>
              <a:rPr b="1" lang="en-US" sz="2500">
                <a:solidFill>
                  <a:schemeClr val="lt1"/>
                </a:solidFill>
                <a:latin typeface="Impact"/>
                <a:ea typeface="Impact"/>
                <a:cs typeface="Impact"/>
                <a:sym typeface="Impact"/>
              </a:rPr>
              <a:t>-value</a:t>
            </a:r>
            <a:r>
              <a:rPr lang="en-US" sz="2500">
                <a:solidFill>
                  <a:schemeClr val="lt1"/>
                </a:solidFill>
                <a:latin typeface="EB Garamond ExtraBold"/>
                <a:ea typeface="EB Garamond ExtraBold"/>
                <a:cs typeface="EB Garamond ExtraBold"/>
                <a:sym typeface="EB Garamond ExtraBold"/>
              </a:rPr>
              <a:t>, further suggesting this is not a definitive model. There are missing variables that are distinct sales drivers.</a:t>
            </a:r>
            <a:endParaRPr sz="2500">
              <a:solidFill>
                <a:schemeClr val="lt1"/>
              </a:solidFill>
              <a:latin typeface="EB Garamond ExtraBold"/>
              <a:ea typeface="EB Garamond ExtraBold"/>
              <a:cs typeface="EB Garamond ExtraBold"/>
              <a:sym typeface="EB Garamond ExtraBold"/>
            </a:endParaRPr>
          </a:p>
        </p:txBody>
      </p:sp>
      <p:sp>
        <p:nvSpPr>
          <p:cNvPr id="151" name="Google Shape;151;p4"/>
          <p:cNvSpPr/>
          <p:nvPr/>
        </p:nvSpPr>
        <p:spPr>
          <a:xfrm>
            <a:off x="6347700" y="3913550"/>
            <a:ext cx="715200" cy="277500"/>
          </a:xfrm>
          <a:prstGeom prst="rect">
            <a:avLst/>
          </a:prstGeom>
          <a:noFill/>
          <a:ln cap="flat" cmpd="sng" w="363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7075" lIns="87075" spcFirstLastPara="1" rIns="87075" wrap="square" tIns="870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4"/>
              <a:buFont typeface="Arial"/>
              <a:buNone/>
            </a:pPr>
            <a:r>
              <a:t/>
            </a:r>
            <a:endParaRPr b="0" i="0" sz="1334" u="none" cap="none" strike="noStrike">
              <a:solidFill>
                <a:srgbClr val="000000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152" name="Google Shape;152;p4"/>
          <p:cNvSpPr/>
          <p:nvPr/>
        </p:nvSpPr>
        <p:spPr>
          <a:xfrm>
            <a:off x="10597619" y="1621810"/>
            <a:ext cx="536400" cy="277500"/>
          </a:xfrm>
          <a:prstGeom prst="rect">
            <a:avLst/>
          </a:prstGeom>
          <a:noFill/>
          <a:ln cap="flat" cmpd="sng" w="363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7075" lIns="87075" spcFirstLastPara="1" rIns="87075" wrap="square" tIns="870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4"/>
              <a:buFont typeface="Arial"/>
              <a:buNone/>
            </a:pPr>
            <a:r>
              <a:t/>
            </a:r>
            <a:endParaRPr b="0" i="0" sz="1334" u="none" cap="none" strike="noStrike">
              <a:solidFill>
                <a:srgbClr val="000000"/>
              </a:solidFill>
              <a:latin typeface="Play"/>
              <a:ea typeface="Play"/>
              <a:cs typeface="Play"/>
              <a:sym typeface="Play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6"/>
          <p:cNvSpPr/>
          <p:nvPr/>
        </p:nvSpPr>
        <p:spPr>
          <a:xfrm>
            <a:off x="571513" y="5738825"/>
            <a:ext cx="11096700" cy="904800"/>
          </a:xfrm>
          <a:prstGeom prst="rect">
            <a:avLst/>
          </a:prstGeom>
          <a:solidFill>
            <a:srgbClr val="073763"/>
          </a:solidFill>
          <a:ln cap="flat" cmpd="sng" w="9525">
            <a:solidFill>
              <a:srgbClr val="CFE2F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158" name="Google Shape;158;p6"/>
          <p:cNvSpPr txBox="1"/>
          <p:nvPr>
            <p:ph idx="1" type="body"/>
          </p:nvPr>
        </p:nvSpPr>
        <p:spPr>
          <a:xfrm>
            <a:off x="599700" y="5891325"/>
            <a:ext cx="109926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740"/>
              <a:buNone/>
            </a:pPr>
            <a:r>
              <a:rPr b="1" lang="en-US" sz="3200">
                <a:solidFill>
                  <a:schemeClr val="lt1"/>
                </a:solidFill>
                <a:latin typeface="Impact"/>
                <a:ea typeface="Impact"/>
                <a:cs typeface="Impact"/>
                <a:sym typeface="Impact"/>
              </a:rPr>
              <a:t>Instagram advertising demonstrated the strongest modeled ROI</a:t>
            </a:r>
            <a:endParaRPr b="1" sz="3200">
              <a:solidFill>
                <a:schemeClr val="lt1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159" name="Google Shape;159;p6"/>
          <p:cNvSpPr txBox="1"/>
          <p:nvPr>
            <p:ph type="title"/>
          </p:nvPr>
        </p:nvSpPr>
        <p:spPr>
          <a:xfrm>
            <a:off x="650525" y="252800"/>
            <a:ext cx="5748300" cy="1097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4761"/>
              </a:buClr>
              <a:buSzPts val="4200"/>
              <a:buFont typeface="Arial"/>
              <a:buNone/>
            </a:pPr>
            <a:r>
              <a:rPr b="1" i="0" lang="en-US" sz="42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Multi</a:t>
            </a:r>
            <a:r>
              <a:rPr lang="en-US" sz="42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-Factor Analysis</a:t>
            </a:r>
            <a:endParaRPr sz="42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" name="Google Shape;160;p6"/>
          <p:cNvSpPr txBox="1"/>
          <p:nvPr>
            <p:ph idx="1" type="body"/>
          </p:nvPr>
        </p:nvSpPr>
        <p:spPr>
          <a:xfrm>
            <a:off x="319538" y="2009755"/>
            <a:ext cx="3915000" cy="293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740"/>
              <a:buNone/>
            </a:pPr>
            <a:r>
              <a:rPr lang="en-US" sz="2800">
                <a:solidFill>
                  <a:schemeClr val="lt1"/>
                </a:solidFill>
                <a:latin typeface="Impact"/>
                <a:ea typeface="Impact"/>
                <a:cs typeface="Impact"/>
                <a:sym typeface="Impact"/>
              </a:rPr>
              <a:t>Coefficients Analysis:</a:t>
            </a:r>
            <a:endParaRPr sz="2800">
              <a:solidFill>
                <a:schemeClr val="lt1"/>
              </a:solidFill>
              <a:latin typeface="Impact"/>
              <a:ea typeface="Impact"/>
              <a:cs typeface="Impact"/>
              <a:sym typeface="Impact"/>
            </a:endParaRPr>
          </a:p>
          <a:p>
            <a:pPr indent="0" lvl="0" marL="0" rtl="0" algn="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740"/>
              <a:buNone/>
            </a:pPr>
            <a:r>
              <a:rPr lang="en-US" sz="2300">
                <a:solidFill>
                  <a:schemeClr val="lt1"/>
                </a:solidFill>
                <a:latin typeface="Impact"/>
                <a:ea typeface="Impact"/>
                <a:cs typeface="Impact"/>
                <a:sym typeface="Impact"/>
              </a:rPr>
              <a:t>R2 increased 45.1% to 65%</a:t>
            </a:r>
            <a:endParaRPr sz="2300">
              <a:solidFill>
                <a:schemeClr val="lt1"/>
              </a:solidFill>
              <a:latin typeface="Impact"/>
              <a:ea typeface="Impact"/>
              <a:cs typeface="Impact"/>
              <a:sym typeface="Impact"/>
            </a:endParaRPr>
          </a:p>
          <a:p>
            <a:pPr indent="0" lvl="0" marL="0" rtl="0" algn="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740"/>
              <a:buNone/>
            </a:pPr>
            <a:r>
              <a:rPr i="0" lang="en-US" sz="2300">
                <a:solidFill>
                  <a:schemeClr val="lt1"/>
                </a:solidFill>
                <a:latin typeface="Impact"/>
                <a:ea typeface="Impact"/>
                <a:cs typeface="Impact"/>
                <a:sym typeface="Impact"/>
              </a:rPr>
              <a:t>Facebook </a:t>
            </a:r>
            <a:r>
              <a:rPr lang="en-US" sz="2300">
                <a:solidFill>
                  <a:schemeClr val="lt1"/>
                </a:solidFill>
                <a:latin typeface="Impact"/>
                <a:ea typeface="Impact"/>
                <a:cs typeface="Impact"/>
                <a:sym typeface="Impact"/>
              </a:rPr>
              <a:t>increased to</a:t>
            </a:r>
            <a:r>
              <a:rPr i="0" lang="en-US" sz="2300">
                <a:solidFill>
                  <a:schemeClr val="lt1"/>
                </a:solidFill>
                <a:latin typeface="Impact"/>
                <a:ea typeface="Impact"/>
                <a:cs typeface="Impact"/>
                <a:sym typeface="Impact"/>
              </a:rPr>
              <a:t> </a:t>
            </a:r>
            <a:r>
              <a:rPr lang="en-US" sz="2300">
                <a:solidFill>
                  <a:schemeClr val="lt1"/>
                </a:solidFill>
                <a:latin typeface="Impact"/>
                <a:ea typeface="Impact"/>
                <a:cs typeface="Impact"/>
                <a:sym typeface="Impact"/>
              </a:rPr>
              <a:t>13.50</a:t>
            </a:r>
            <a:endParaRPr sz="2300">
              <a:solidFill>
                <a:schemeClr val="lt1"/>
              </a:solidFill>
              <a:latin typeface="Impact"/>
              <a:ea typeface="Impact"/>
              <a:cs typeface="Impact"/>
              <a:sym typeface="Impact"/>
            </a:endParaRPr>
          </a:p>
          <a:p>
            <a:pPr indent="0" lvl="0" marL="0" rtl="0" algn="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740"/>
              <a:buNone/>
            </a:pPr>
            <a:r>
              <a:rPr lang="en-US" sz="2300">
                <a:solidFill>
                  <a:schemeClr val="lt1"/>
                </a:solidFill>
                <a:latin typeface="Impact"/>
                <a:ea typeface="Impact"/>
                <a:cs typeface="Impact"/>
                <a:sym typeface="Impact"/>
              </a:rPr>
              <a:t>Instagram is 15.60</a:t>
            </a:r>
            <a:endParaRPr sz="2300">
              <a:solidFill>
                <a:schemeClr val="lt1"/>
              </a:solidFill>
              <a:latin typeface="Impact"/>
              <a:ea typeface="Impact"/>
              <a:cs typeface="Impact"/>
              <a:sym typeface="Impact"/>
            </a:endParaRPr>
          </a:p>
          <a:p>
            <a:pPr indent="0" lvl="0" marL="0" rtl="0" algn="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740"/>
              <a:buNone/>
            </a:pPr>
            <a:r>
              <a:rPr lang="en-US" sz="2300">
                <a:solidFill>
                  <a:schemeClr val="lt1"/>
                </a:solidFill>
                <a:latin typeface="Impact"/>
                <a:ea typeface="Impact"/>
                <a:cs typeface="Impact"/>
                <a:sym typeface="Impact"/>
              </a:rPr>
              <a:t>Discount Rate is -8.60</a:t>
            </a:r>
            <a:endParaRPr sz="2300">
              <a:solidFill>
                <a:schemeClr val="lt1"/>
              </a:solidFill>
              <a:latin typeface="Impact"/>
              <a:ea typeface="Impact"/>
              <a:cs typeface="Impact"/>
              <a:sym typeface="Impact"/>
            </a:endParaRPr>
          </a:p>
          <a:p>
            <a:pPr indent="0" lvl="0" marL="0" rtl="0" algn="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740"/>
              <a:buNone/>
            </a:pPr>
            <a:r>
              <a:t/>
            </a:r>
            <a:endParaRPr sz="2300">
              <a:solidFill>
                <a:schemeClr val="lt1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pic>
        <p:nvPicPr>
          <p:cNvPr id="161" name="Google Shape;161;p6" title="Screen Shot 2026-03-30 at 3.44.51 PM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164325" y="1427213"/>
            <a:ext cx="6868674" cy="4124251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6"/>
          <p:cNvSpPr/>
          <p:nvPr/>
        </p:nvSpPr>
        <p:spPr>
          <a:xfrm>
            <a:off x="6985500" y="3944734"/>
            <a:ext cx="624900" cy="151500"/>
          </a:xfrm>
          <a:prstGeom prst="rect">
            <a:avLst/>
          </a:prstGeom>
          <a:noFill/>
          <a:ln cap="flat" cmpd="sng" w="90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7075" lIns="87075" spcFirstLastPara="1" rIns="87075" wrap="square" tIns="870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4"/>
              <a:buFont typeface="Arial"/>
              <a:buNone/>
            </a:pPr>
            <a:r>
              <a:t/>
            </a:r>
            <a:endParaRPr b="0" i="0" sz="1334" u="none" cap="none" strike="noStrike">
              <a:solidFill>
                <a:srgbClr val="000000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163" name="Google Shape;163;p6"/>
          <p:cNvSpPr/>
          <p:nvPr/>
        </p:nvSpPr>
        <p:spPr>
          <a:xfrm>
            <a:off x="6992935" y="4126296"/>
            <a:ext cx="624900" cy="151500"/>
          </a:xfrm>
          <a:prstGeom prst="rect">
            <a:avLst/>
          </a:prstGeom>
          <a:noFill/>
          <a:ln cap="flat" cmpd="sng" w="90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7075" lIns="87075" spcFirstLastPara="1" rIns="87075" wrap="square" tIns="870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4"/>
              <a:buFont typeface="Arial"/>
              <a:buNone/>
            </a:pPr>
            <a:r>
              <a:t/>
            </a:r>
            <a:endParaRPr b="0" i="0" sz="1334" u="none" cap="none" strike="noStrike">
              <a:solidFill>
                <a:srgbClr val="000000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164" name="Google Shape;164;p6"/>
          <p:cNvSpPr/>
          <p:nvPr/>
        </p:nvSpPr>
        <p:spPr>
          <a:xfrm>
            <a:off x="6991811" y="4272942"/>
            <a:ext cx="624900" cy="151500"/>
          </a:xfrm>
          <a:prstGeom prst="rect">
            <a:avLst/>
          </a:prstGeom>
          <a:noFill/>
          <a:ln cap="flat" cmpd="sng" w="90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7075" lIns="87075" spcFirstLastPara="1" rIns="87075" wrap="square" tIns="870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4"/>
              <a:buFont typeface="Arial"/>
              <a:buNone/>
            </a:pPr>
            <a:r>
              <a:t/>
            </a:r>
            <a:endParaRPr b="0" i="0" sz="1334" u="none" cap="none" strike="noStrike">
              <a:solidFill>
                <a:srgbClr val="000000"/>
              </a:solidFill>
              <a:latin typeface="Play"/>
              <a:ea typeface="Play"/>
              <a:cs typeface="Play"/>
              <a:sym typeface="Play"/>
            </a:endParaRPr>
          </a:p>
        </p:txBody>
      </p:sp>
      <p:cxnSp>
        <p:nvCxnSpPr>
          <p:cNvPr id="165" name="Google Shape;165;p6"/>
          <p:cNvCxnSpPr>
            <a:endCxn id="162" idx="1"/>
          </p:cNvCxnSpPr>
          <p:nvPr/>
        </p:nvCxnSpPr>
        <p:spPr>
          <a:xfrm>
            <a:off x="4267800" y="3268684"/>
            <a:ext cx="2717700" cy="7518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66" name="Google Shape;166;p6"/>
          <p:cNvCxnSpPr>
            <a:endCxn id="163" idx="1"/>
          </p:cNvCxnSpPr>
          <p:nvPr/>
        </p:nvCxnSpPr>
        <p:spPr>
          <a:xfrm>
            <a:off x="4234435" y="3744846"/>
            <a:ext cx="2758500" cy="4572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67" name="Google Shape;167;p6"/>
          <p:cNvCxnSpPr>
            <a:endCxn id="164" idx="1"/>
          </p:cNvCxnSpPr>
          <p:nvPr/>
        </p:nvCxnSpPr>
        <p:spPr>
          <a:xfrm>
            <a:off x="4310111" y="4167192"/>
            <a:ext cx="2681700" cy="1815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8" name="Google Shape;168;p6"/>
          <p:cNvSpPr/>
          <p:nvPr/>
        </p:nvSpPr>
        <p:spPr>
          <a:xfrm>
            <a:off x="10732771" y="1718772"/>
            <a:ext cx="536400" cy="277500"/>
          </a:xfrm>
          <a:prstGeom prst="rect">
            <a:avLst/>
          </a:prstGeom>
          <a:noFill/>
          <a:ln cap="flat" cmpd="sng" w="363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7075" lIns="87075" spcFirstLastPara="1" rIns="87075" wrap="square" tIns="870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4"/>
              <a:buFont typeface="Arial"/>
              <a:buNone/>
            </a:pPr>
            <a:r>
              <a:t/>
            </a:r>
            <a:endParaRPr b="0" i="0" sz="1334" u="none" cap="none" strike="noStrike">
              <a:solidFill>
                <a:srgbClr val="000000"/>
              </a:solidFill>
              <a:latin typeface="Play"/>
              <a:ea typeface="Play"/>
              <a:cs typeface="Play"/>
              <a:sym typeface="Play"/>
            </a:endParaRPr>
          </a:p>
        </p:txBody>
      </p:sp>
      <p:cxnSp>
        <p:nvCxnSpPr>
          <p:cNvPr id="169" name="Google Shape;169;p6"/>
          <p:cNvCxnSpPr>
            <a:endCxn id="168" idx="1"/>
          </p:cNvCxnSpPr>
          <p:nvPr/>
        </p:nvCxnSpPr>
        <p:spPr>
          <a:xfrm flipH="1" rot="10800000">
            <a:off x="4310071" y="1857522"/>
            <a:ext cx="6422700" cy="9048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" name="Google Shape;174;p5" title="Screen Shot 2026-03-30 at 3.28.19 PM.png"/>
          <p:cNvPicPr preferRelativeResize="0"/>
          <p:nvPr/>
        </p:nvPicPr>
        <p:blipFill rotWithShape="1">
          <a:blip r:embed="rId3">
            <a:alphaModFix/>
          </a:blip>
          <a:srcRect b="0" l="2857" r="2848" t="0"/>
          <a:stretch/>
        </p:blipFill>
        <p:spPr>
          <a:xfrm>
            <a:off x="914502" y="4044550"/>
            <a:ext cx="3711070" cy="2621901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5"/>
          <p:cNvSpPr txBox="1"/>
          <p:nvPr>
            <p:ph type="title"/>
          </p:nvPr>
        </p:nvSpPr>
        <p:spPr>
          <a:xfrm>
            <a:off x="650527" y="252800"/>
            <a:ext cx="8712000" cy="1097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4761"/>
              </a:buClr>
              <a:buSzPts val="4200"/>
              <a:buFont typeface="Arial"/>
              <a:buNone/>
            </a:pPr>
            <a:r>
              <a:rPr lang="en-US" sz="42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Forecasting</a:t>
            </a:r>
            <a:r>
              <a:rPr b="1" i="0" lang="en-US" sz="42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Model</a:t>
            </a:r>
            <a:r>
              <a:rPr lang="en-US" sz="42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endParaRPr sz="42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" name="Google Shape;176;p5"/>
          <p:cNvSpPr txBox="1"/>
          <p:nvPr>
            <p:ph idx="1" type="body"/>
          </p:nvPr>
        </p:nvSpPr>
        <p:spPr>
          <a:xfrm>
            <a:off x="4875250" y="1625825"/>
            <a:ext cx="7068300" cy="4483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900">
                <a:solidFill>
                  <a:schemeClr val="lt1"/>
                </a:solidFill>
                <a:latin typeface="Impact"/>
                <a:ea typeface="Impact"/>
                <a:cs typeface="Impact"/>
                <a:sym typeface="Impact"/>
              </a:rPr>
              <a:t>Residuals vs Fitted Values Plot </a:t>
            </a:r>
            <a:endParaRPr sz="2900">
              <a:solidFill>
                <a:schemeClr val="lt1"/>
              </a:solidFill>
              <a:latin typeface="Impact"/>
              <a:ea typeface="Impact"/>
              <a:cs typeface="Impact"/>
              <a:sym typeface="Impact"/>
            </a:endParaRPr>
          </a:p>
          <a:p>
            <a:pPr indent="0" lvl="0" marL="9144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lt1"/>
                </a:solidFill>
                <a:latin typeface="EB Garamond ExtraBold"/>
                <a:ea typeface="EB Garamond ExtraBold"/>
                <a:cs typeface="EB Garamond ExtraBold"/>
                <a:sym typeface="EB Garamond ExtraBold"/>
              </a:rPr>
              <a:t>Model diagnostics indicate reliable predictability.</a:t>
            </a:r>
            <a:endParaRPr sz="2800">
              <a:solidFill>
                <a:schemeClr val="lt1"/>
              </a:solidFill>
              <a:latin typeface="EB Garamond ExtraBold"/>
              <a:ea typeface="EB Garamond ExtraBold"/>
              <a:cs typeface="EB Garamond ExtraBold"/>
              <a:sym typeface="EB Garamond ExtraBold"/>
            </a:endParaRPr>
          </a:p>
          <a:p>
            <a:pPr indent="0" lvl="0" marL="6858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566"/>
              <a:buNone/>
            </a:pPr>
            <a:r>
              <a:t/>
            </a:r>
            <a:endParaRPr sz="2800">
              <a:solidFill>
                <a:schemeClr val="lt1"/>
              </a:solidFill>
              <a:latin typeface="Impact"/>
              <a:ea typeface="Impact"/>
              <a:cs typeface="Impact"/>
              <a:sym typeface="Impact"/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566"/>
              <a:buNone/>
            </a:pPr>
            <a:r>
              <a:t/>
            </a:r>
            <a:endParaRPr sz="2800">
              <a:solidFill>
                <a:schemeClr val="lt1"/>
              </a:solidFill>
              <a:latin typeface="Impact"/>
              <a:ea typeface="Impact"/>
              <a:cs typeface="Impact"/>
              <a:sym typeface="Impact"/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900">
                <a:solidFill>
                  <a:schemeClr val="lt1"/>
                </a:solidFill>
                <a:latin typeface="Impact"/>
                <a:ea typeface="Impact"/>
                <a:cs typeface="Impact"/>
                <a:sym typeface="Impact"/>
              </a:rPr>
              <a:t>Q-Q PLOT</a:t>
            </a:r>
            <a:endParaRPr sz="2900">
              <a:solidFill>
                <a:schemeClr val="lt1"/>
              </a:solidFill>
              <a:latin typeface="Impact"/>
              <a:ea typeface="Impact"/>
              <a:cs typeface="Impact"/>
              <a:sym typeface="Impact"/>
            </a:endParaRPr>
          </a:p>
          <a:p>
            <a:pPr indent="0" lvl="0" marL="9144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lt1"/>
                </a:solidFill>
                <a:latin typeface="EB Garamond ExtraBold"/>
                <a:ea typeface="EB Garamond ExtraBold"/>
                <a:cs typeface="EB Garamond ExtraBold"/>
                <a:sym typeface="EB Garamond ExtraBold"/>
              </a:rPr>
              <a:t>C</a:t>
            </a:r>
            <a:r>
              <a:rPr lang="en-US" sz="2800">
                <a:solidFill>
                  <a:schemeClr val="lt1"/>
                </a:solidFill>
                <a:latin typeface="EB Garamond ExtraBold"/>
                <a:ea typeface="EB Garamond ExtraBold"/>
                <a:cs typeface="EB Garamond ExtraBold"/>
                <a:sym typeface="EB Garamond ExtraBold"/>
              </a:rPr>
              <a:t>onsistency in the regression model is optimal!</a:t>
            </a:r>
            <a:endParaRPr sz="2800">
              <a:solidFill>
                <a:schemeClr val="lt1"/>
              </a:solidFill>
              <a:latin typeface="EB Garamond ExtraBold"/>
              <a:ea typeface="EB Garamond ExtraBold"/>
              <a:cs typeface="EB Garamond ExtraBold"/>
              <a:sym typeface="EB Garamond ExtraBold"/>
            </a:endParaRPr>
          </a:p>
        </p:txBody>
      </p:sp>
      <p:pic>
        <p:nvPicPr>
          <p:cNvPr id="177" name="Google Shape;177;p5" title="Screen Shot 2026-03-30 at 3.30.04 PM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14502" y="1195520"/>
            <a:ext cx="3711074" cy="262492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82" name="Google Shape;182;p7"/>
          <p:cNvCxnSpPr/>
          <p:nvPr/>
        </p:nvCxnSpPr>
        <p:spPr>
          <a:xfrm flipH="1" rot="10800000">
            <a:off x="479288" y="2602725"/>
            <a:ext cx="3932100" cy="3633600"/>
          </a:xfrm>
          <a:prstGeom prst="straightConnector1">
            <a:avLst/>
          </a:prstGeom>
          <a:noFill/>
          <a:ln cap="flat" cmpd="sng" w="135900">
            <a:solidFill>
              <a:srgbClr val="1C458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3" name="Google Shape;183;p7"/>
          <p:cNvCxnSpPr/>
          <p:nvPr/>
        </p:nvCxnSpPr>
        <p:spPr>
          <a:xfrm rot="10800000">
            <a:off x="4292800" y="2602825"/>
            <a:ext cx="3748800" cy="3127800"/>
          </a:xfrm>
          <a:prstGeom prst="straightConnector1">
            <a:avLst/>
          </a:prstGeom>
          <a:noFill/>
          <a:ln cap="flat" cmpd="sng" w="135900">
            <a:solidFill>
              <a:srgbClr val="1C458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4" name="Google Shape;184;p7"/>
          <p:cNvCxnSpPr/>
          <p:nvPr/>
        </p:nvCxnSpPr>
        <p:spPr>
          <a:xfrm flipH="1" rot="10800000">
            <a:off x="7994750" y="939700"/>
            <a:ext cx="3546600" cy="4884600"/>
          </a:xfrm>
          <a:prstGeom prst="straightConnector1">
            <a:avLst/>
          </a:prstGeom>
          <a:noFill/>
          <a:ln cap="flat" cmpd="sng" w="135900">
            <a:solidFill>
              <a:srgbClr val="1C458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85" name="Google Shape;185;p7"/>
          <p:cNvSpPr txBox="1"/>
          <p:nvPr>
            <p:ph type="title"/>
          </p:nvPr>
        </p:nvSpPr>
        <p:spPr>
          <a:xfrm>
            <a:off x="650535" y="252806"/>
            <a:ext cx="10890929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4761"/>
              </a:buClr>
              <a:buSzPts val="4200"/>
              <a:buFont typeface="Arial"/>
              <a:buNone/>
            </a:pPr>
            <a:r>
              <a:rPr b="1" i="0" lang="en-US" sz="42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Forecasting</a:t>
            </a:r>
            <a:r>
              <a:rPr lang="en-US" sz="42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42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" name="Google Shape;186;p7"/>
          <p:cNvSpPr txBox="1"/>
          <p:nvPr>
            <p:ph idx="1" type="body"/>
          </p:nvPr>
        </p:nvSpPr>
        <p:spPr>
          <a:xfrm>
            <a:off x="3566997" y="3451399"/>
            <a:ext cx="34398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40"/>
              <a:buNone/>
            </a:pPr>
            <a:r>
              <a:rPr lang="en-US" sz="2500">
                <a:solidFill>
                  <a:schemeClr val="lt1"/>
                </a:solidFill>
                <a:latin typeface="EB Garamond ExtraBold"/>
                <a:ea typeface="EB Garamond ExtraBold"/>
                <a:cs typeface="EB Garamond ExtraBold"/>
                <a:sym typeface="EB Garamond ExtraBold"/>
              </a:rPr>
              <a:t>3 mo.</a:t>
            </a:r>
            <a:endParaRPr sz="2500">
              <a:solidFill>
                <a:schemeClr val="lt1"/>
              </a:solidFill>
              <a:latin typeface="EB Garamond ExtraBold"/>
              <a:ea typeface="EB Garamond ExtraBold"/>
              <a:cs typeface="EB Garamond ExtraBold"/>
              <a:sym typeface="EB Garamond ExtraBold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40"/>
              <a:buNone/>
            </a:pPr>
            <a:r>
              <a:rPr lang="en-US" sz="2500">
                <a:solidFill>
                  <a:schemeClr val="lt1"/>
                </a:solidFill>
                <a:latin typeface="EB Garamond ExtraBold"/>
                <a:ea typeface="EB Garamond ExtraBold"/>
                <a:cs typeface="EB Garamond ExtraBold"/>
                <a:sym typeface="EB Garamond ExtraBold"/>
              </a:rPr>
              <a:t>Moving Average:</a:t>
            </a:r>
            <a:endParaRPr sz="2400">
              <a:solidFill>
                <a:schemeClr val="lt1"/>
              </a:solidFill>
              <a:latin typeface="EB Garamond ExtraBold"/>
              <a:ea typeface="EB Garamond ExtraBold"/>
              <a:cs typeface="EB Garamond ExtraBold"/>
              <a:sym typeface="EB Garamond ExtraBold"/>
            </a:endParaRPr>
          </a:p>
        </p:txBody>
      </p:sp>
      <p:sp>
        <p:nvSpPr>
          <p:cNvPr id="187" name="Google Shape;187;p7"/>
          <p:cNvSpPr/>
          <p:nvPr/>
        </p:nvSpPr>
        <p:spPr>
          <a:xfrm>
            <a:off x="7579557" y="1605425"/>
            <a:ext cx="939000" cy="2066100"/>
          </a:xfrm>
          <a:prstGeom prst="cube">
            <a:avLst>
              <a:gd fmla="val 25000" name="adj"/>
            </a:avLst>
          </a:prstGeom>
          <a:solidFill>
            <a:schemeClr val="dk2"/>
          </a:solidFill>
          <a:ln cap="flat" cmpd="sng" w="90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6375" lIns="86375" spcFirstLastPara="1" rIns="86375" wrap="square" tIns="863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23"/>
              <a:buFont typeface="Arial"/>
              <a:buNone/>
            </a:pPr>
            <a:r>
              <a:t/>
            </a:r>
            <a:endParaRPr b="0" i="0" sz="1323" u="none" cap="none" strike="noStrike">
              <a:solidFill>
                <a:srgbClr val="000000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188" name="Google Shape;188;p7"/>
          <p:cNvSpPr/>
          <p:nvPr/>
        </p:nvSpPr>
        <p:spPr>
          <a:xfrm>
            <a:off x="4720074" y="4351199"/>
            <a:ext cx="993900" cy="2186700"/>
          </a:xfrm>
          <a:prstGeom prst="cube">
            <a:avLst>
              <a:gd fmla="val 25000" name="adj"/>
            </a:avLst>
          </a:prstGeom>
          <a:solidFill>
            <a:schemeClr val="dk2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189" name="Google Shape;189;p7"/>
          <p:cNvSpPr txBox="1"/>
          <p:nvPr/>
        </p:nvSpPr>
        <p:spPr>
          <a:xfrm>
            <a:off x="7175711" y="1164018"/>
            <a:ext cx="1812300" cy="2066100"/>
          </a:xfrm>
          <a:prstGeom prst="rect">
            <a:avLst/>
          </a:prstGeom>
          <a:noFill/>
          <a:ln>
            <a:noFill/>
          </a:ln>
        </p:spPr>
        <p:txBody>
          <a:bodyPr anchorCtr="0" anchor="t" bIns="86375" lIns="86375" spcFirstLastPara="1" rIns="86375" wrap="square" tIns="863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40"/>
              <a:buFont typeface="Arial"/>
              <a:buNone/>
            </a:pPr>
            <a:r>
              <a:t/>
            </a:r>
            <a:endParaRPr b="0" i="0" sz="2740" u="none" cap="none" strike="noStrike">
              <a:solidFill>
                <a:schemeClr val="lt1"/>
              </a:solidFill>
              <a:latin typeface="Impact"/>
              <a:ea typeface="Impact"/>
              <a:cs typeface="Impact"/>
              <a:sym typeface="Impac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40"/>
              <a:buFont typeface="Arial"/>
              <a:buNone/>
            </a:pPr>
            <a:r>
              <a:t/>
            </a:r>
            <a:endParaRPr b="0" i="0" sz="2740" u="none" cap="none" strike="noStrike">
              <a:solidFill>
                <a:schemeClr val="lt1"/>
              </a:solidFill>
              <a:latin typeface="Impact"/>
              <a:ea typeface="Impact"/>
              <a:cs typeface="Impact"/>
              <a:sym typeface="Impac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40"/>
              <a:buFont typeface="Arial"/>
              <a:buNone/>
            </a:pPr>
            <a:r>
              <a:t/>
            </a:r>
            <a:endParaRPr b="0" i="0" sz="2740" u="none" cap="none" strike="noStrike">
              <a:solidFill>
                <a:schemeClr val="lt1"/>
              </a:solidFill>
              <a:latin typeface="Impact"/>
              <a:ea typeface="Impact"/>
              <a:cs typeface="Impact"/>
              <a:sym typeface="Impac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40"/>
              <a:buFont typeface="Arial"/>
              <a:buNone/>
            </a:pPr>
            <a:r>
              <a:rPr b="0" i="0" lang="en-US" sz="2740" u="none" cap="none" strike="noStrike">
                <a:solidFill>
                  <a:schemeClr val="lt1"/>
                </a:solidFill>
                <a:latin typeface="Impact"/>
                <a:ea typeface="Impact"/>
                <a:cs typeface="Impact"/>
                <a:sym typeface="Impact"/>
              </a:rPr>
              <a:t>$6,032.01</a:t>
            </a:r>
            <a:endParaRPr b="0" i="0" sz="2740" u="none" cap="none" strike="noStrike">
              <a:solidFill>
                <a:schemeClr val="lt1"/>
              </a:solidFill>
              <a:latin typeface="Impact"/>
              <a:ea typeface="Impact"/>
              <a:cs typeface="Impact"/>
              <a:sym typeface="Impac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40"/>
              <a:buFont typeface="Arial"/>
              <a:buNone/>
            </a:pPr>
            <a:r>
              <a:t/>
            </a:r>
            <a:endParaRPr b="0" i="0" sz="2740" u="none" cap="none" strike="noStrike">
              <a:solidFill>
                <a:schemeClr val="lt1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190" name="Google Shape;190;p7"/>
          <p:cNvSpPr txBox="1"/>
          <p:nvPr/>
        </p:nvSpPr>
        <p:spPr>
          <a:xfrm>
            <a:off x="4421899" y="4175573"/>
            <a:ext cx="1812300" cy="155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t/>
            </a:r>
            <a:endParaRPr b="0" i="0" sz="2900" u="none" cap="none" strike="noStrike">
              <a:solidFill>
                <a:schemeClr val="lt1"/>
              </a:solidFill>
              <a:latin typeface="Impact"/>
              <a:ea typeface="Impact"/>
              <a:cs typeface="Impact"/>
              <a:sym typeface="Impac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t/>
            </a:r>
            <a:endParaRPr b="0" i="0" sz="2900" u="none" cap="none" strike="noStrike">
              <a:solidFill>
                <a:schemeClr val="lt1"/>
              </a:solidFill>
              <a:latin typeface="Impact"/>
              <a:ea typeface="Impact"/>
              <a:cs typeface="Impact"/>
              <a:sym typeface="Impac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b="0" i="0" lang="en-US" sz="2900" u="none" cap="none" strike="noStrike">
                <a:solidFill>
                  <a:schemeClr val="lt1"/>
                </a:solidFill>
                <a:latin typeface="Impact"/>
                <a:ea typeface="Impact"/>
                <a:cs typeface="Impact"/>
                <a:sym typeface="Impact"/>
              </a:rPr>
              <a:t>$6,059.33</a:t>
            </a:r>
            <a:endParaRPr b="0" i="0" sz="2900" u="none" cap="none" strike="noStrike">
              <a:solidFill>
                <a:schemeClr val="lt1"/>
              </a:solidFill>
              <a:latin typeface="Impact"/>
              <a:ea typeface="Impact"/>
              <a:cs typeface="Impact"/>
              <a:sym typeface="Impac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t/>
            </a:r>
            <a:endParaRPr b="0" i="0" sz="2900" u="none" cap="none" strike="noStrike">
              <a:solidFill>
                <a:schemeClr val="lt1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191" name="Google Shape;191;p7"/>
          <p:cNvSpPr txBox="1"/>
          <p:nvPr/>
        </p:nvSpPr>
        <p:spPr>
          <a:xfrm>
            <a:off x="13438" y="1319475"/>
            <a:ext cx="4435200" cy="254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ctr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lt1"/>
                </a:solidFill>
                <a:latin typeface="EB Garamond ExtraBold"/>
                <a:ea typeface="EB Garamond ExtraBold"/>
                <a:cs typeface="EB Garamond ExtraBold"/>
                <a:sym typeface="EB Garamond ExtraBold"/>
              </a:rPr>
              <a:t>Prioritize Instagram Ad Spend since it has the highest ROI and optimize discount strategy to minimize diminishing returns. </a:t>
            </a:r>
            <a:endParaRPr sz="2400">
              <a:solidFill>
                <a:schemeClr val="lt1"/>
              </a:solidFill>
              <a:latin typeface="EB Garamond ExtraBold"/>
              <a:ea typeface="EB Garamond ExtraBold"/>
              <a:cs typeface="EB Garamond ExtraBold"/>
              <a:sym typeface="EB Garamond ExtraBold"/>
            </a:endParaRPr>
          </a:p>
        </p:txBody>
      </p:sp>
      <p:sp>
        <p:nvSpPr>
          <p:cNvPr id="192" name="Google Shape;192;p7"/>
          <p:cNvSpPr txBox="1"/>
          <p:nvPr/>
        </p:nvSpPr>
        <p:spPr>
          <a:xfrm>
            <a:off x="7822623" y="4076104"/>
            <a:ext cx="4115400" cy="238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ctr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lt1"/>
                </a:solidFill>
                <a:latin typeface="EB Garamond ExtraBold"/>
                <a:ea typeface="EB Garamond ExtraBold"/>
                <a:cs typeface="EB Garamond ExtraBold"/>
                <a:sym typeface="EB Garamond ExtraBold"/>
              </a:rPr>
              <a:t>Use Exponential Smoothing and short term predictions to stay in-line with market trends and seasonality.</a:t>
            </a:r>
            <a:endParaRPr sz="2400">
              <a:solidFill>
                <a:schemeClr val="lt1"/>
              </a:solidFill>
              <a:latin typeface="EB Garamond ExtraBold"/>
              <a:ea typeface="EB Garamond ExtraBold"/>
              <a:cs typeface="EB Garamond ExtraBold"/>
              <a:sym typeface="EB Garamond ExtraBold"/>
            </a:endParaRPr>
          </a:p>
        </p:txBody>
      </p:sp>
      <p:sp>
        <p:nvSpPr>
          <p:cNvPr id="193" name="Google Shape;193;p7"/>
          <p:cNvSpPr txBox="1"/>
          <p:nvPr>
            <p:ph idx="1" type="body"/>
          </p:nvPr>
        </p:nvSpPr>
        <p:spPr>
          <a:xfrm>
            <a:off x="6323262" y="704463"/>
            <a:ext cx="3517200" cy="84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40"/>
              <a:buNone/>
            </a:pPr>
            <a:r>
              <a:rPr lang="en-US" sz="2500">
                <a:solidFill>
                  <a:schemeClr val="lt1"/>
                </a:solidFill>
                <a:latin typeface="EB Garamond ExtraBold"/>
                <a:ea typeface="EB Garamond ExtraBold"/>
                <a:cs typeface="EB Garamond ExtraBold"/>
                <a:sym typeface="EB Garamond ExtraBold"/>
              </a:rPr>
              <a:t>Exponential Smoothing:</a:t>
            </a:r>
            <a:endParaRPr sz="2400">
              <a:solidFill>
                <a:schemeClr val="lt1"/>
              </a:solidFill>
              <a:latin typeface="EB Garamond ExtraBold"/>
              <a:ea typeface="EB Garamond ExtraBold"/>
              <a:cs typeface="EB Garamond ExtraBold"/>
              <a:sym typeface="EB Garamond ExtraBold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40"/>
              <a:buNone/>
            </a:pPr>
            <a:r>
              <a:rPr lang="en-US" sz="2400">
                <a:solidFill>
                  <a:schemeClr val="lt1"/>
                </a:solidFill>
                <a:latin typeface="EB Garamond ExtraBold"/>
                <a:ea typeface="EB Garamond ExtraBold"/>
                <a:cs typeface="EB Garamond ExtraBold"/>
                <a:sym typeface="EB Garamond ExtraBold"/>
              </a:rPr>
              <a:t>.80 Smoothing Factor</a:t>
            </a:r>
            <a:endParaRPr sz="2400">
              <a:solidFill>
                <a:schemeClr val="lt1"/>
              </a:solidFill>
              <a:latin typeface="EB Garamond ExtraBold"/>
              <a:ea typeface="EB Garamond ExtraBold"/>
              <a:cs typeface="EB Garamond ExtraBold"/>
              <a:sym typeface="EB Garamond ExtraBold"/>
            </a:endParaRPr>
          </a:p>
        </p:txBody>
      </p:sp>
      <p:sp>
        <p:nvSpPr>
          <p:cNvPr id="194" name="Google Shape;194;p7"/>
          <p:cNvSpPr/>
          <p:nvPr/>
        </p:nvSpPr>
        <p:spPr>
          <a:xfrm rot="-7698328">
            <a:off x="245603" y="5875700"/>
            <a:ext cx="742433" cy="474152"/>
          </a:xfrm>
          <a:prstGeom prst="triangle">
            <a:avLst>
              <a:gd fmla="val 50000" name="adj"/>
            </a:avLst>
          </a:prstGeom>
          <a:solidFill>
            <a:srgbClr val="1C4587"/>
          </a:solidFill>
          <a:ln cap="flat" cmpd="sng" w="9525">
            <a:solidFill>
              <a:srgbClr val="0737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195" name="Google Shape;195;p7"/>
          <p:cNvSpPr/>
          <p:nvPr/>
        </p:nvSpPr>
        <p:spPr>
          <a:xfrm rot="2326965">
            <a:off x="11110689" y="758518"/>
            <a:ext cx="742374" cy="473957"/>
          </a:xfrm>
          <a:prstGeom prst="triangle">
            <a:avLst>
              <a:gd fmla="val 50000" name="adj"/>
            </a:avLst>
          </a:prstGeom>
          <a:solidFill>
            <a:srgbClr val="073763"/>
          </a:solidFill>
          <a:ln cap="flat" cmpd="sng" w="9525">
            <a:solidFill>
              <a:srgbClr val="0737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lay"/>
              <a:ea typeface="Play"/>
              <a:cs typeface="Play"/>
              <a:sym typeface="Play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9"/>
          <p:cNvSpPr txBox="1"/>
          <p:nvPr>
            <p:ph type="title"/>
          </p:nvPr>
        </p:nvSpPr>
        <p:spPr>
          <a:xfrm>
            <a:off x="650525" y="252800"/>
            <a:ext cx="6394500" cy="1097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4761"/>
              </a:buClr>
              <a:buSzPts val="4200"/>
              <a:buFont typeface="Arial"/>
              <a:buNone/>
            </a:pPr>
            <a:r>
              <a:rPr b="1" i="0" lang="en-US" sz="4200">
                <a:solidFill>
                  <a:srgbClr val="0F4761"/>
                </a:solidFill>
                <a:latin typeface="Arial"/>
                <a:ea typeface="Arial"/>
                <a:cs typeface="Arial"/>
                <a:sym typeface="Arial"/>
              </a:rPr>
              <a:t>Monte Carlo Simulation</a:t>
            </a:r>
            <a:r>
              <a:rPr b="0" i="0" lang="en-US" sz="4200">
                <a:solidFill>
                  <a:srgbClr val="0F4761"/>
                </a:solidFill>
                <a:latin typeface="Arial"/>
                <a:ea typeface="Arial"/>
                <a:cs typeface="Arial"/>
                <a:sym typeface="Arial"/>
              </a:rPr>
              <a:t> </a:t>
            </a:r>
            <a:endParaRPr sz="42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01" name="Google Shape;201;p9" title="Screen Shot 2026-03-30 at 6.25.21 PM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535625" y="1385075"/>
            <a:ext cx="5120749" cy="5156624"/>
          </a:xfrm>
          <a:prstGeom prst="rect">
            <a:avLst/>
          </a:prstGeom>
          <a:noFill/>
          <a:ln>
            <a:noFill/>
          </a:ln>
        </p:spPr>
      </p:pic>
      <p:sp>
        <p:nvSpPr>
          <p:cNvPr id="202" name="Google Shape;202;p9"/>
          <p:cNvSpPr txBox="1"/>
          <p:nvPr/>
        </p:nvSpPr>
        <p:spPr>
          <a:xfrm>
            <a:off x="246827" y="1385925"/>
            <a:ext cx="3096000" cy="515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500"/>
              </a:spcBef>
              <a:spcAft>
                <a:spcPts val="0"/>
              </a:spcAft>
              <a:buNone/>
            </a:pPr>
            <a:br>
              <a:rPr lang="en-US" sz="2000">
                <a:solidFill>
                  <a:schemeClr val="lt1"/>
                </a:solidFill>
                <a:latin typeface="Impact"/>
                <a:ea typeface="Impact"/>
                <a:cs typeface="Impact"/>
                <a:sym typeface="Impact"/>
              </a:rPr>
            </a:br>
            <a:endParaRPr sz="500">
              <a:solidFill>
                <a:schemeClr val="lt1"/>
              </a:solidFill>
              <a:latin typeface="Impact"/>
              <a:ea typeface="Impact"/>
              <a:cs typeface="Impact"/>
              <a:sym typeface="Impact"/>
            </a:endParaRPr>
          </a:p>
          <a:p>
            <a:pPr indent="0" lvl="0" marL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chemeClr val="lt1"/>
                </a:solidFill>
                <a:latin typeface="Impact"/>
                <a:ea typeface="Impact"/>
                <a:cs typeface="Impact"/>
                <a:sym typeface="Impact"/>
              </a:rPr>
              <a:t>Estimated Average</a:t>
            </a:r>
            <a:br>
              <a:rPr lang="en-US" sz="2600">
                <a:solidFill>
                  <a:schemeClr val="lt1"/>
                </a:solidFill>
                <a:latin typeface="Impact"/>
                <a:ea typeface="Impact"/>
                <a:cs typeface="Impact"/>
                <a:sym typeface="Impact"/>
              </a:rPr>
            </a:br>
            <a:r>
              <a:rPr lang="en-US" sz="2600">
                <a:solidFill>
                  <a:schemeClr val="lt1"/>
                </a:solidFill>
                <a:latin typeface="Impact"/>
                <a:ea typeface="Impact"/>
                <a:cs typeface="Impact"/>
                <a:sym typeface="Impact"/>
              </a:rPr>
              <a:t>Monthly Revenue</a:t>
            </a:r>
            <a:endParaRPr sz="2600">
              <a:solidFill>
                <a:schemeClr val="lt1"/>
              </a:solidFill>
              <a:latin typeface="Impact"/>
              <a:ea typeface="Impact"/>
              <a:cs typeface="Impact"/>
              <a:sym typeface="Impact"/>
            </a:endParaRPr>
          </a:p>
          <a:p>
            <a:pPr indent="0" lvl="0" marL="0" rtl="0" algn="r">
              <a:spcBef>
                <a:spcPts val="50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lt1"/>
                </a:solidFill>
                <a:latin typeface="Impact"/>
                <a:ea typeface="Impact"/>
                <a:cs typeface="Impact"/>
                <a:sym typeface="Impact"/>
              </a:rPr>
              <a:t>= $4,975.38</a:t>
            </a:r>
            <a:endParaRPr sz="2400">
              <a:solidFill>
                <a:schemeClr val="lt1"/>
              </a:solidFill>
              <a:latin typeface="Impact"/>
              <a:ea typeface="Impact"/>
              <a:cs typeface="Impact"/>
              <a:sym typeface="Impact"/>
            </a:endParaRPr>
          </a:p>
          <a:p>
            <a:pPr indent="0" lvl="0" marL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t/>
            </a:r>
            <a:endParaRPr sz="500">
              <a:solidFill>
                <a:schemeClr val="lt1"/>
              </a:solidFill>
              <a:latin typeface="Impact"/>
              <a:ea typeface="Impact"/>
              <a:cs typeface="Impact"/>
              <a:sym typeface="Impact"/>
            </a:endParaRPr>
          </a:p>
          <a:p>
            <a:pPr indent="0" lvl="0" marL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chemeClr val="lt1"/>
                </a:solidFill>
                <a:latin typeface="Impact"/>
                <a:ea typeface="Impact"/>
                <a:cs typeface="Impact"/>
                <a:sym typeface="Impact"/>
              </a:rPr>
              <a:t>Median</a:t>
            </a:r>
            <a:endParaRPr sz="2600">
              <a:solidFill>
                <a:schemeClr val="lt1"/>
              </a:solidFill>
              <a:latin typeface="Impact"/>
              <a:ea typeface="Impact"/>
              <a:cs typeface="Impact"/>
              <a:sym typeface="Impact"/>
            </a:endParaRPr>
          </a:p>
          <a:p>
            <a:pPr indent="0" lvl="0" marL="0" rtl="0" algn="r">
              <a:spcBef>
                <a:spcPts val="50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lt1"/>
                </a:solidFill>
                <a:latin typeface="Impact"/>
                <a:ea typeface="Impact"/>
                <a:cs typeface="Impact"/>
                <a:sym typeface="Impact"/>
              </a:rPr>
              <a:t>= $4,972.50</a:t>
            </a:r>
            <a:endParaRPr sz="2400">
              <a:solidFill>
                <a:schemeClr val="lt1"/>
              </a:solidFill>
              <a:latin typeface="Impact"/>
              <a:ea typeface="Impact"/>
              <a:cs typeface="Impact"/>
              <a:sym typeface="Impact"/>
            </a:endParaRPr>
          </a:p>
          <a:p>
            <a:pPr indent="0" lvl="0" marL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t/>
            </a:r>
            <a:endParaRPr sz="500">
              <a:solidFill>
                <a:schemeClr val="lt1"/>
              </a:solidFill>
              <a:latin typeface="Impact"/>
              <a:ea typeface="Impact"/>
              <a:cs typeface="Impact"/>
              <a:sym typeface="Impact"/>
            </a:endParaRPr>
          </a:p>
          <a:p>
            <a:pPr indent="0" lvl="0" marL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chemeClr val="lt1"/>
                </a:solidFill>
                <a:latin typeface="Impact"/>
                <a:ea typeface="Impact"/>
                <a:cs typeface="Impact"/>
                <a:sym typeface="Impact"/>
              </a:rPr>
              <a:t>Standard Deviation</a:t>
            </a:r>
            <a:endParaRPr sz="2600">
              <a:solidFill>
                <a:schemeClr val="lt1"/>
              </a:solidFill>
              <a:latin typeface="Impact"/>
              <a:ea typeface="Impact"/>
              <a:cs typeface="Impact"/>
              <a:sym typeface="Impact"/>
            </a:endParaRPr>
          </a:p>
          <a:p>
            <a:pPr indent="0" lvl="0" marL="0" rtl="0" algn="r">
              <a:spcBef>
                <a:spcPts val="50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lt1"/>
                </a:solidFill>
                <a:latin typeface="Impact"/>
                <a:ea typeface="Impact"/>
                <a:cs typeface="Impact"/>
                <a:sym typeface="Impact"/>
              </a:rPr>
              <a:t>= $290.96</a:t>
            </a:r>
            <a:endParaRPr sz="2400">
              <a:solidFill>
                <a:schemeClr val="lt1"/>
              </a:solidFill>
              <a:latin typeface="Impact"/>
              <a:ea typeface="Impact"/>
              <a:cs typeface="Impact"/>
              <a:sym typeface="Impact"/>
            </a:endParaRPr>
          </a:p>
          <a:p>
            <a:pPr indent="0" lvl="0" marL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lt1"/>
              </a:solidFill>
              <a:latin typeface="Impact"/>
              <a:ea typeface="Impact"/>
              <a:cs typeface="Impact"/>
              <a:sym typeface="Impact"/>
            </a:endParaRPr>
          </a:p>
          <a:p>
            <a:pPr indent="0" lvl="0" marL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lt1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203" name="Google Shape;203;p9"/>
          <p:cNvSpPr txBox="1"/>
          <p:nvPr/>
        </p:nvSpPr>
        <p:spPr>
          <a:xfrm>
            <a:off x="8705401" y="1260225"/>
            <a:ext cx="3443400" cy="540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50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chemeClr val="lt1"/>
                </a:solidFill>
                <a:latin typeface="EB Garamond ExtraBold"/>
                <a:ea typeface="EB Garamond ExtraBold"/>
                <a:cs typeface="EB Garamond ExtraBold"/>
                <a:sym typeface="EB Garamond ExtraBold"/>
              </a:rPr>
              <a:t>Profitable goal is</a:t>
            </a:r>
            <a:r>
              <a:rPr lang="en-US" sz="2200">
                <a:solidFill>
                  <a:schemeClr val="lt1"/>
                </a:solidFill>
                <a:latin typeface="Impact"/>
                <a:ea typeface="Impact"/>
                <a:cs typeface="Impact"/>
                <a:sym typeface="Impact"/>
              </a:rPr>
              <a:t> $6,500/mo. </a:t>
            </a:r>
            <a:r>
              <a:rPr lang="en-US" sz="2200">
                <a:solidFill>
                  <a:schemeClr val="lt1"/>
                </a:solidFill>
                <a:latin typeface="EB Garamond ExtraBold"/>
                <a:ea typeface="EB Garamond ExtraBold"/>
                <a:cs typeface="EB Garamond ExtraBold"/>
                <a:sym typeface="EB Garamond ExtraBold"/>
              </a:rPr>
              <a:t>TechGear has to encourage sales growth.</a:t>
            </a:r>
            <a:endParaRPr sz="2200">
              <a:solidFill>
                <a:schemeClr val="lt1"/>
              </a:solidFill>
              <a:latin typeface="EB Garamond ExtraBold"/>
              <a:ea typeface="EB Garamond ExtraBold"/>
              <a:cs typeface="EB Garamond ExtraBold"/>
              <a:sym typeface="EB Garamond ExtraBold"/>
            </a:endParaRPr>
          </a:p>
          <a:p>
            <a:pPr indent="0" lvl="0" marL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lt1"/>
              </a:solidFill>
              <a:latin typeface="EB Garamond ExtraBold"/>
              <a:ea typeface="EB Garamond ExtraBold"/>
              <a:cs typeface="EB Garamond ExtraBold"/>
              <a:sym typeface="EB Garamond ExtraBold"/>
            </a:endParaRPr>
          </a:p>
          <a:p>
            <a:pPr indent="0" lvl="0" marL="0" rtl="0" algn="ctr">
              <a:spcBef>
                <a:spcPts val="50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chemeClr val="lt1"/>
                </a:solidFill>
                <a:latin typeface="EB Garamond ExtraBold"/>
                <a:ea typeface="EB Garamond ExtraBold"/>
                <a:cs typeface="EB Garamond ExtraBold"/>
                <a:sym typeface="EB Garamond ExtraBold"/>
              </a:rPr>
              <a:t>Plan staffing and marketing campaigns around expected sales. </a:t>
            </a:r>
            <a:endParaRPr sz="2200">
              <a:solidFill>
                <a:schemeClr val="lt1"/>
              </a:solidFill>
              <a:latin typeface="EB Garamond ExtraBold"/>
              <a:ea typeface="EB Garamond ExtraBold"/>
              <a:cs typeface="EB Garamond ExtraBold"/>
              <a:sym typeface="EB Garamond ExtraBold"/>
            </a:endParaRPr>
          </a:p>
          <a:p>
            <a:pPr indent="0" lvl="0" marL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lt1"/>
              </a:solidFill>
              <a:latin typeface="EB Garamond ExtraBold"/>
              <a:ea typeface="EB Garamond ExtraBold"/>
              <a:cs typeface="EB Garamond ExtraBold"/>
              <a:sym typeface="EB Garamond ExtraBold"/>
            </a:endParaRPr>
          </a:p>
          <a:p>
            <a:pPr indent="0" lvl="0" marL="0" rtl="0" algn="ctr">
              <a:spcBef>
                <a:spcPts val="50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chemeClr val="lt1"/>
                </a:solidFill>
                <a:latin typeface="EB Garamond ExtraBold"/>
                <a:ea typeface="EB Garamond ExtraBold"/>
                <a:cs typeface="EB Garamond ExtraBold"/>
                <a:sym typeface="EB Garamond ExtraBold"/>
              </a:rPr>
              <a:t>Allocate more of the marketing budget to Instagram. This allows decreases in spending while still increasing sales. </a:t>
            </a:r>
            <a:endParaRPr sz="2200">
              <a:solidFill>
                <a:schemeClr val="lt1"/>
              </a:solidFill>
              <a:latin typeface="EB Garamond ExtraBold"/>
              <a:ea typeface="EB Garamond ExtraBold"/>
              <a:cs typeface="EB Garamond ExtraBold"/>
              <a:sym typeface="EB Garamond ExtraBold"/>
            </a:endParaRPr>
          </a:p>
          <a:p>
            <a:pPr indent="0" lvl="0" marL="0" rtl="0" algn="ctr">
              <a:spcBef>
                <a:spcPts val="50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lt1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8"/>
          <p:cNvSpPr txBox="1"/>
          <p:nvPr>
            <p:ph type="title"/>
          </p:nvPr>
        </p:nvSpPr>
        <p:spPr>
          <a:xfrm>
            <a:off x="650535" y="252806"/>
            <a:ext cx="10890929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4761"/>
              </a:buClr>
              <a:buSzPts val="4200"/>
              <a:buFont typeface="Arial"/>
              <a:buNone/>
            </a:pPr>
            <a:r>
              <a:rPr lang="en-US" sz="42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Predictive Model Performance</a:t>
            </a:r>
            <a:endParaRPr sz="42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09" name="Google Shape;209;p8" title="Screen Shot 2026-03-30 at 5.50.43 PM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850" y="2215047"/>
            <a:ext cx="6051077" cy="2888900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8"/>
          <p:cNvSpPr txBox="1"/>
          <p:nvPr/>
        </p:nvSpPr>
        <p:spPr>
          <a:xfrm>
            <a:off x="1735072" y="1156317"/>
            <a:ext cx="2748600" cy="54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n-US" sz="2600">
                <a:solidFill>
                  <a:schemeClr val="lt1"/>
                </a:solidFill>
                <a:latin typeface="EB Garamond ExtraBold"/>
                <a:ea typeface="EB Garamond ExtraBold"/>
                <a:cs typeface="EB Garamond ExtraBold"/>
                <a:sym typeface="EB Garamond ExtraBold"/>
              </a:rPr>
              <a:t>Regression Model</a:t>
            </a:r>
            <a:endParaRPr i="0" sz="2600" u="none" cap="none" strike="noStrike">
              <a:solidFill>
                <a:schemeClr val="lt1"/>
              </a:solidFill>
              <a:latin typeface="EB Garamond ExtraBold"/>
              <a:ea typeface="EB Garamond ExtraBold"/>
              <a:cs typeface="EB Garamond ExtraBold"/>
              <a:sym typeface="EB Garamond ExtraBold"/>
            </a:endParaRPr>
          </a:p>
        </p:txBody>
      </p:sp>
      <p:pic>
        <p:nvPicPr>
          <p:cNvPr id="211" name="Google Shape;211;p8" title="Screen Shot 2026-03-30 at 5.53.03 PM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58700" y="2215047"/>
            <a:ext cx="5782374" cy="2888900"/>
          </a:xfrm>
          <a:prstGeom prst="rect">
            <a:avLst/>
          </a:prstGeom>
          <a:noFill/>
          <a:ln>
            <a:noFill/>
          </a:ln>
        </p:spPr>
      </p:pic>
      <p:sp>
        <p:nvSpPr>
          <p:cNvPr id="212" name="Google Shape;212;p8"/>
          <p:cNvSpPr txBox="1"/>
          <p:nvPr/>
        </p:nvSpPr>
        <p:spPr>
          <a:xfrm>
            <a:off x="7632588" y="1156335"/>
            <a:ext cx="3234600" cy="54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i="0" lang="en-US" sz="2600" u="none" cap="none" strike="noStrike">
                <a:solidFill>
                  <a:schemeClr val="lt1"/>
                </a:solidFill>
                <a:latin typeface="EB Garamond ExtraBold"/>
                <a:ea typeface="EB Garamond ExtraBold"/>
                <a:cs typeface="EB Garamond ExtraBold"/>
                <a:sym typeface="EB Garamond ExtraBold"/>
              </a:rPr>
              <a:t>Decision Tree Model</a:t>
            </a:r>
            <a:endParaRPr i="0" sz="2600" u="none" cap="none" strike="noStrike">
              <a:solidFill>
                <a:schemeClr val="lt1"/>
              </a:solidFill>
              <a:latin typeface="EB Garamond ExtraBold"/>
              <a:ea typeface="EB Garamond ExtraBold"/>
              <a:cs typeface="EB Garamond ExtraBold"/>
              <a:sym typeface="EB Garamond ExtraBold"/>
            </a:endParaRPr>
          </a:p>
        </p:txBody>
      </p:sp>
      <p:sp>
        <p:nvSpPr>
          <p:cNvPr id="213" name="Google Shape;213;p8"/>
          <p:cNvSpPr txBox="1"/>
          <p:nvPr/>
        </p:nvSpPr>
        <p:spPr>
          <a:xfrm>
            <a:off x="2233385" y="1602649"/>
            <a:ext cx="1752000" cy="54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-US" sz="2600" u="none" cap="none" strike="noStrike">
                <a:solidFill>
                  <a:schemeClr val="lt1"/>
                </a:solidFill>
                <a:latin typeface="Impact"/>
                <a:ea typeface="Impact"/>
                <a:cs typeface="Impact"/>
                <a:sym typeface="Impact"/>
              </a:rPr>
              <a:t>RMSE = 626</a:t>
            </a:r>
            <a:endParaRPr b="0" i="0" sz="2600" u="none" cap="none" strike="noStrike">
              <a:solidFill>
                <a:schemeClr val="lt1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214" name="Google Shape;214;p8"/>
          <p:cNvSpPr txBox="1"/>
          <p:nvPr/>
        </p:nvSpPr>
        <p:spPr>
          <a:xfrm>
            <a:off x="8301981" y="1615412"/>
            <a:ext cx="1752000" cy="54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-US" sz="2600" u="none" cap="none" strike="noStrike">
                <a:solidFill>
                  <a:schemeClr val="lt1"/>
                </a:solidFill>
                <a:latin typeface="Impact"/>
                <a:ea typeface="Impact"/>
                <a:cs typeface="Impact"/>
                <a:sym typeface="Impact"/>
              </a:rPr>
              <a:t>RMSE = 911</a:t>
            </a:r>
            <a:endParaRPr b="0" i="0" sz="2600" u="none" cap="none" strike="noStrike">
              <a:solidFill>
                <a:schemeClr val="lt1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215" name="Google Shape;215;p8"/>
          <p:cNvSpPr txBox="1"/>
          <p:nvPr/>
        </p:nvSpPr>
        <p:spPr>
          <a:xfrm>
            <a:off x="404400" y="5433900"/>
            <a:ext cx="11383200" cy="142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lt1"/>
                </a:solidFill>
                <a:latin typeface="EB Garamond ExtraBold"/>
                <a:ea typeface="EB Garamond ExtraBold"/>
                <a:cs typeface="EB Garamond ExtraBold"/>
                <a:sym typeface="EB Garamond ExtraBold"/>
              </a:rPr>
              <a:t>If the sales prediction is</a:t>
            </a:r>
            <a:r>
              <a:rPr lang="en-US" sz="2400">
                <a:solidFill>
                  <a:schemeClr val="lt1"/>
                </a:solidFill>
                <a:latin typeface="Impact"/>
                <a:ea typeface="Impact"/>
                <a:cs typeface="Impact"/>
                <a:sym typeface="Impact"/>
              </a:rPr>
              <a:t> $4,975, </a:t>
            </a:r>
            <a:r>
              <a:rPr lang="en-US" sz="2400">
                <a:solidFill>
                  <a:schemeClr val="lt1"/>
                </a:solidFill>
                <a:latin typeface="EB Garamond ExtraBold"/>
                <a:ea typeface="EB Garamond ExtraBold"/>
                <a:cs typeface="EB Garamond ExtraBold"/>
                <a:sym typeface="EB Garamond ExtraBold"/>
              </a:rPr>
              <a:t>an</a:t>
            </a:r>
            <a:r>
              <a:rPr lang="en-US" sz="2400">
                <a:solidFill>
                  <a:schemeClr val="lt1"/>
                </a:solidFill>
                <a:latin typeface="Impact"/>
                <a:ea typeface="Impact"/>
                <a:cs typeface="Impact"/>
                <a:sym typeface="Impact"/>
              </a:rPr>
              <a:t> RMSE </a:t>
            </a:r>
            <a:r>
              <a:rPr lang="en-US" sz="2400">
                <a:solidFill>
                  <a:schemeClr val="lt1"/>
                </a:solidFill>
                <a:latin typeface="EB Garamond ExtraBold"/>
                <a:ea typeface="EB Garamond ExtraBold"/>
                <a:cs typeface="EB Garamond ExtraBold"/>
                <a:sym typeface="EB Garamond ExtraBold"/>
              </a:rPr>
              <a:t>of</a:t>
            </a:r>
            <a:r>
              <a:rPr lang="en-US" sz="2400">
                <a:solidFill>
                  <a:schemeClr val="lt1"/>
                </a:solidFill>
                <a:latin typeface="Impact"/>
                <a:ea typeface="Impact"/>
                <a:cs typeface="Impact"/>
                <a:sym typeface="Impact"/>
              </a:rPr>
              <a:t> +/-626 </a:t>
            </a:r>
            <a:r>
              <a:rPr lang="en-US" sz="2400">
                <a:solidFill>
                  <a:schemeClr val="lt1"/>
                </a:solidFill>
                <a:latin typeface="EB Garamond ExtraBold"/>
                <a:ea typeface="EB Garamond ExtraBold"/>
                <a:cs typeface="EB Garamond ExtraBold"/>
                <a:sym typeface="EB Garamond ExtraBold"/>
              </a:rPr>
              <a:t>establishes a range of</a:t>
            </a:r>
            <a:r>
              <a:rPr lang="en-US" sz="2400">
                <a:solidFill>
                  <a:schemeClr val="lt1"/>
                </a:solidFill>
                <a:latin typeface="Impact"/>
                <a:ea typeface="Impact"/>
                <a:cs typeface="Impact"/>
                <a:sym typeface="Impact"/>
              </a:rPr>
              <a:t> $4,349-$5,601.</a:t>
            </a:r>
            <a:endParaRPr sz="2400">
              <a:solidFill>
                <a:schemeClr val="lt1"/>
              </a:solidFill>
              <a:latin typeface="Impact"/>
              <a:ea typeface="Impact"/>
              <a:cs typeface="Impact"/>
              <a:sym typeface="Impac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lt1"/>
                </a:solidFill>
                <a:latin typeface="EB Garamond ExtraBold"/>
                <a:ea typeface="EB Garamond ExtraBold"/>
                <a:cs typeface="EB Garamond ExtraBold"/>
                <a:sym typeface="EB Garamond ExtraBold"/>
              </a:rPr>
              <a:t>With a goal of </a:t>
            </a:r>
            <a:r>
              <a:rPr lang="en-US" sz="2400">
                <a:solidFill>
                  <a:schemeClr val="lt1"/>
                </a:solidFill>
                <a:latin typeface="Impact"/>
                <a:ea typeface="Impact"/>
                <a:cs typeface="Impact"/>
                <a:sym typeface="Impact"/>
              </a:rPr>
              <a:t>$6,500 </a:t>
            </a:r>
            <a:r>
              <a:rPr lang="en-US" sz="2400">
                <a:solidFill>
                  <a:schemeClr val="lt1"/>
                </a:solidFill>
                <a:latin typeface="EB Garamond ExtraBold"/>
                <a:ea typeface="EB Garamond ExtraBold"/>
                <a:cs typeface="EB Garamond ExtraBold"/>
                <a:sym typeface="EB Garamond ExtraBold"/>
              </a:rPr>
              <a:t>per month, the company is at risk of not being profitable.</a:t>
            </a:r>
            <a:endParaRPr sz="2400">
              <a:solidFill>
                <a:schemeClr val="lt1"/>
              </a:solidFill>
              <a:latin typeface="EB Garamond ExtraBold"/>
              <a:ea typeface="EB Garamond ExtraBold"/>
              <a:cs typeface="EB Garamond ExtraBold"/>
              <a:sym typeface="EB Garamond ExtraBold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10"/>
          <p:cNvSpPr txBox="1"/>
          <p:nvPr>
            <p:ph type="title"/>
          </p:nvPr>
        </p:nvSpPr>
        <p:spPr>
          <a:xfrm>
            <a:off x="650535" y="252806"/>
            <a:ext cx="10890929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4761"/>
              </a:buClr>
              <a:buSzPts val="4200"/>
              <a:buFont typeface="Arial"/>
              <a:buNone/>
            </a:pPr>
            <a:r>
              <a:rPr lang="en-US" sz="42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Optimization</a:t>
            </a:r>
            <a:endParaRPr sz="42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" name="Google Shape;221;p10"/>
          <p:cNvSpPr txBox="1"/>
          <p:nvPr>
            <p:ph idx="1" type="body"/>
          </p:nvPr>
        </p:nvSpPr>
        <p:spPr>
          <a:xfrm>
            <a:off x="1337125" y="2308475"/>
            <a:ext cx="4497300" cy="249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40"/>
              <a:buNone/>
            </a:pPr>
            <a:r>
              <a:rPr b="1" lang="en-US" sz="2800">
                <a:solidFill>
                  <a:schemeClr val="lt1"/>
                </a:solidFill>
                <a:latin typeface="Impact"/>
                <a:ea typeface="Impact"/>
                <a:cs typeface="Impact"/>
                <a:sym typeface="Impact"/>
              </a:rPr>
              <a:t>Optimal Budget Allocation </a:t>
            </a:r>
            <a:endParaRPr b="1" sz="800">
              <a:solidFill>
                <a:schemeClr val="lt1"/>
              </a:solidFill>
              <a:latin typeface="Impact"/>
              <a:ea typeface="Impact"/>
              <a:cs typeface="Impact"/>
              <a:sym typeface="Impact"/>
            </a:endParaRPr>
          </a:p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40"/>
              <a:buNone/>
            </a:pPr>
            <a:r>
              <a:rPr b="1" lang="en-US" sz="2600">
                <a:solidFill>
                  <a:schemeClr val="lt1"/>
                </a:solidFill>
                <a:latin typeface="Impact"/>
                <a:ea typeface="Impact"/>
                <a:cs typeface="Impact"/>
                <a:sym typeface="Impact"/>
              </a:rPr>
              <a:t>= 13.5F + 15.6I</a:t>
            </a:r>
            <a:endParaRPr b="1" sz="2600">
              <a:solidFill>
                <a:schemeClr val="lt1"/>
              </a:solidFill>
              <a:latin typeface="Impact"/>
              <a:ea typeface="Impact"/>
              <a:cs typeface="Impact"/>
              <a:sym typeface="Impact"/>
            </a:endParaRPr>
          </a:p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40"/>
              <a:buNone/>
            </a:pPr>
            <a:r>
              <a:t/>
            </a:r>
            <a:endParaRPr b="1" sz="2800">
              <a:solidFill>
                <a:schemeClr val="lt1"/>
              </a:solidFill>
              <a:latin typeface="Impact"/>
              <a:ea typeface="Impact"/>
              <a:cs typeface="Impact"/>
              <a:sym typeface="Impact"/>
            </a:endParaRPr>
          </a:p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40"/>
              <a:buNone/>
            </a:pPr>
            <a:r>
              <a:rPr b="1" lang="en-US" sz="2800">
                <a:solidFill>
                  <a:schemeClr val="lt1"/>
                </a:solidFill>
                <a:latin typeface="Impact"/>
                <a:ea typeface="Impact"/>
                <a:cs typeface="Impact"/>
                <a:sym typeface="Impact"/>
              </a:rPr>
              <a:t>Constraints:</a:t>
            </a:r>
            <a:endParaRPr b="1" sz="800">
              <a:solidFill>
                <a:schemeClr val="lt1"/>
              </a:solidFill>
              <a:latin typeface="Impact"/>
              <a:ea typeface="Impact"/>
              <a:cs typeface="Impact"/>
              <a:sym typeface="Impact"/>
            </a:endParaRPr>
          </a:p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40"/>
              <a:buNone/>
            </a:pPr>
            <a:r>
              <a:rPr b="1" lang="en-US" sz="2600">
                <a:solidFill>
                  <a:schemeClr val="lt1"/>
                </a:solidFill>
                <a:latin typeface="Impact"/>
                <a:ea typeface="Impact"/>
                <a:cs typeface="Impact"/>
                <a:sym typeface="Impact"/>
              </a:rPr>
              <a:t>I</a:t>
            </a:r>
            <a:r>
              <a:rPr b="1" lang="en-US" sz="2600">
                <a:solidFill>
                  <a:schemeClr val="lt1"/>
                </a:solidFill>
                <a:latin typeface="Impact"/>
                <a:ea typeface="Impact"/>
                <a:cs typeface="Impact"/>
                <a:sym typeface="Impact"/>
              </a:rPr>
              <a:t> &gt;= $5,000</a:t>
            </a:r>
            <a:endParaRPr b="1" sz="2600">
              <a:solidFill>
                <a:schemeClr val="lt1"/>
              </a:solidFill>
              <a:latin typeface="Impact"/>
              <a:ea typeface="Impact"/>
              <a:cs typeface="Impact"/>
              <a:sym typeface="Impact"/>
            </a:endParaRPr>
          </a:p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40"/>
              <a:buNone/>
            </a:pPr>
            <a:r>
              <a:rPr b="1" lang="en-US" sz="2600">
                <a:solidFill>
                  <a:schemeClr val="lt1"/>
                </a:solidFill>
                <a:latin typeface="Impact"/>
                <a:ea typeface="Impact"/>
                <a:cs typeface="Impact"/>
                <a:sym typeface="Impact"/>
              </a:rPr>
              <a:t> $1,000 =&lt; F &lt;=$</a:t>
            </a:r>
            <a:r>
              <a:rPr b="1" lang="en-US" sz="2600">
                <a:solidFill>
                  <a:schemeClr val="lt1"/>
                </a:solidFill>
                <a:latin typeface="Impact"/>
                <a:ea typeface="Impact"/>
                <a:cs typeface="Impact"/>
                <a:sym typeface="Impact"/>
              </a:rPr>
              <a:t>5</a:t>
            </a:r>
            <a:r>
              <a:rPr b="1" lang="en-US" sz="2600">
                <a:solidFill>
                  <a:schemeClr val="lt1"/>
                </a:solidFill>
                <a:latin typeface="Impact"/>
                <a:ea typeface="Impact"/>
                <a:cs typeface="Impact"/>
                <a:sym typeface="Impact"/>
              </a:rPr>
              <a:t>,000</a:t>
            </a:r>
            <a:endParaRPr b="1" sz="2600">
              <a:solidFill>
                <a:schemeClr val="lt1"/>
              </a:solidFill>
              <a:latin typeface="Impact"/>
              <a:ea typeface="Impact"/>
              <a:cs typeface="Impact"/>
              <a:sym typeface="Impact"/>
            </a:endParaRPr>
          </a:p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40"/>
              <a:buNone/>
            </a:pPr>
            <a:r>
              <a:rPr b="1" lang="en-US" sz="2600">
                <a:solidFill>
                  <a:schemeClr val="lt1"/>
                </a:solidFill>
                <a:latin typeface="Impact"/>
                <a:ea typeface="Impact"/>
                <a:cs typeface="Impact"/>
                <a:sym typeface="Impact"/>
              </a:rPr>
              <a:t>F = .5I</a:t>
            </a:r>
            <a:endParaRPr b="1" sz="2600">
              <a:solidFill>
                <a:schemeClr val="lt1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222" name="Google Shape;222;p10"/>
          <p:cNvSpPr txBox="1"/>
          <p:nvPr>
            <p:ph idx="1" type="body"/>
          </p:nvPr>
        </p:nvSpPr>
        <p:spPr>
          <a:xfrm>
            <a:off x="6493675" y="2298899"/>
            <a:ext cx="4497300" cy="22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40"/>
              <a:buNone/>
            </a:pPr>
            <a:r>
              <a:rPr b="1" lang="en-US" sz="2800">
                <a:solidFill>
                  <a:schemeClr val="lt1"/>
                </a:solidFill>
                <a:latin typeface="Impact"/>
                <a:ea typeface="Impact"/>
                <a:cs typeface="Impact"/>
                <a:sym typeface="Impact"/>
              </a:rPr>
              <a:t>Facebook Spend</a:t>
            </a:r>
            <a:endParaRPr b="1" sz="2800">
              <a:solidFill>
                <a:schemeClr val="lt1"/>
              </a:solidFill>
              <a:latin typeface="Impact"/>
              <a:ea typeface="Impact"/>
              <a:cs typeface="Impact"/>
              <a:sym typeface="Impact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40"/>
              <a:buNone/>
            </a:pPr>
            <a:r>
              <a:rPr b="1" lang="en-US" sz="2600">
                <a:solidFill>
                  <a:schemeClr val="lt1"/>
                </a:solidFill>
                <a:latin typeface="Impact"/>
                <a:ea typeface="Impact"/>
                <a:cs typeface="Impact"/>
                <a:sym typeface="Impact"/>
              </a:rPr>
              <a:t>= $3,333.33</a:t>
            </a:r>
            <a:endParaRPr b="1" sz="2600">
              <a:solidFill>
                <a:schemeClr val="lt1"/>
              </a:solidFill>
              <a:latin typeface="Impact"/>
              <a:ea typeface="Impact"/>
              <a:cs typeface="Impact"/>
              <a:sym typeface="Impact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40"/>
              <a:buNone/>
            </a:pPr>
            <a:r>
              <a:t/>
            </a:r>
            <a:endParaRPr b="1" sz="2800">
              <a:solidFill>
                <a:schemeClr val="lt1"/>
              </a:solidFill>
              <a:latin typeface="Impact"/>
              <a:ea typeface="Impact"/>
              <a:cs typeface="Impact"/>
              <a:sym typeface="Impact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40"/>
              <a:buNone/>
            </a:pPr>
            <a:r>
              <a:rPr b="1" lang="en-US" sz="2800">
                <a:solidFill>
                  <a:schemeClr val="lt1"/>
                </a:solidFill>
                <a:latin typeface="Impact"/>
                <a:ea typeface="Impact"/>
                <a:cs typeface="Impact"/>
                <a:sym typeface="Impact"/>
              </a:rPr>
              <a:t>Instagram Spend</a:t>
            </a:r>
            <a:endParaRPr b="1" sz="2800">
              <a:solidFill>
                <a:schemeClr val="lt1"/>
              </a:solidFill>
              <a:latin typeface="Impact"/>
              <a:ea typeface="Impact"/>
              <a:cs typeface="Impact"/>
              <a:sym typeface="Impact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40"/>
              <a:buNone/>
            </a:pPr>
            <a:r>
              <a:rPr b="1" lang="en-US" sz="2600">
                <a:solidFill>
                  <a:schemeClr val="lt1"/>
                </a:solidFill>
                <a:latin typeface="Impact"/>
                <a:ea typeface="Impact"/>
                <a:cs typeface="Impact"/>
                <a:sym typeface="Impact"/>
              </a:rPr>
              <a:t>= $6,666.67</a:t>
            </a:r>
            <a:endParaRPr b="1" sz="2600">
              <a:solidFill>
                <a:schemeClr val="lt1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223" name="Google Shape;223;p10"/>
          <p:cNvSpPr txBox="1"/>
          <p:nvPr/>
        </p:nvSpPr>
        <p:spPr>
          <a:xfrm>
            <a:off x="2774025" y="4804481"/>
            <a:ext cx="7217700" cy="16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Arial"/>
              <a:buNone/>
            </a:pPr>
            <a:r>
              <a:rPr b="1" i="0" lang="en-US" sz="3200" u="none" cap="none" strike="noStrike">
                <a:solidFill>
                  <a:schemeClr val="dk2"/>
                </a:solidFill>
                <a:latin typeface="Impact"/>
                <a:ea typeface="Impact"/>
                <a:cs typeface="Impact"/>
                <a:sym typeface="Impact"/>
              </a:rPr>
              <a:t>Maximum </a:t>
            </a:r>
            <a:r>
              <a:rPr b="1" i="0" lang="en-US" sz="3200" u="none" cap="none" strike="noStrike">
                <a:solidFill>
                  <a:schemeClr val="dk2"/>
                </a:solidFill>
                <a:latin typeface="Impact"/>
                <a:ea typeface="Impact"/>
                <a:cs typeface="Impact"/>
                <a:sym typeface="Impact"/>
              </a:rPr>
              <a:t>Annual </a:t>
            </a:r>
            <a:r>
              <a:rPr b="1" i="0" lang="en-US" sz="3200" u="none" cap="none" strike="noStrike">
                <a:solidFill>
                  <a:schemeClr val="dk2"/>
                </a:solidFill>
                <a:latin typeface="Impact"/>
                <a:ea typeface="Impact"/>
                <a:cs typeface="Impact"/>
                <a:sym typeface="Impact"/>
              </a:rPr>
              <a:t>Sales Revenue</a:t>
            </a:r>
            <a:endParaRPr b="1" i="0" sz="3200" u="none" cap="none" strike="noStrike">
              <a:solidFill>
                <a:schemeClr val="dk2"/>
              </a:solidFill>
              <a:latin typeface="Impact"/>
              <a:ea typeface="Impact"/>
              <a:cs typeface="Impact"/>
              <a:sym typeface="Impac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40"/>
              <a:buFont typeface="Arial"/>
              <a:buNone/>
            </a:pPr>
            <a:r>
              <a:rPr b="1" i="0" lang="en-US" sz="2600" u="none" cap="none" strike="noStrike">
                <a:solidFill>
                  <a:schemeClr val="lt1"/>
                </a:solidFill>
                <a:latin typeface="Impact"/>
                <a:ea typeface="Impact"/>
                <a:cs typeface="Impact"/>
                <a:sym typeface="Impact"/>
              </a:rPr>
              <a:t>= </a:t>
            </a:r>
            <a:r>
              <a:rPr b="1" lang="en-US" sz="2600">
                <a:solidFill>
                  <a:schemeClr val="lt1"/>
                </a:solidFill>
                <a:latin typeface="Impact"/>
                <a:ea typeface="Impact"/>
                <a:cs typeface="Impact"/>
                <a:sym typeface="Impact"/>
              </a:rPr>
              <a:t>13.5</a:t>
            </a:r>
            <a:r>
              <a:rPr b="1" i="0" lang="en-US" sz="2600" u="none" cap="none" strike="noStrike">
                <a:solidFill>
                  <a:schemeClr val="lt1"/>
                </a:solidFill>
                <a:latin typeface="Impact"/>
                <a:ea typeface="Impact"/>
                <a:cs typeface="Impact"/>
                <a:sym typeface="Impact"/>
              </a:rPr>
              <a:t>(</a:t>
            </a:r>
            <a:r>
              <a:rPr b="1" lang="en-US" sz="2600">
                <a:solidFill>
                  <a:schemeClr val="lt1"/>
                </a:solidFill>
                <a:latin typeface="Impact"/>
                <a:ea typeface="Impact"/>
                <a:cs typeface="Impact"/>
                <a:sym typeface="Impact"/>
              </a:rPr>
              <a:t>3333.33</a:t>
            </a:r>
            <a:r>
              <a:rPr b="1" i="0" lang="en-US" sz="2600" u="none" cap="none" strike="noStrike">
                <a:solidFill>
                  <a:schemeClr val="lt1"/>
                </a:solidFill>
                <a:latin typeface="Impact"/>
                <a:ea typeface="Impact"/>
                <a:cs typeface="Impact"/>
                <a:sym typeface="Impact"/>
              </a:rPr>
              <a:t>) + </a:t>
            </a:r>
            <a:r>
              <a:rPr b="1" lang="en-US" sz="2600">
                <a:solidFill>
                  <a:schemeClr val="lt1"/>
                </a:solidFill>
                <a:latin typeface="Impact"/>
                <a:ea typeface="Impact"/>
                <a:cs typeface="Impact"/>
                <a:sym typeface="Impact"/>
              </a:rPr>
              <a:t>15.6</a:t>
            </a:r>
            <a:r>
              <a:rPr b="1" i="0" lang="en-US" sz="2600" u="none" cap="none" strike="noStrike">
                <a:solidFill>
                  <a:schemeClr val="lt1"/>
                </a:solidFill>
                <a:latin typeface="Impact"/>
                <a:ea typeface="Impact"/>
                <a:cs typeface="Impact"/>
                <a:sym typeface="Impact"/>
              </a:rPr>
              <a:t>(</a:t>
            </a:r>
            <a:r>
              <a:rPr b="1" lang="en-US" sz="2600">
                <a:solidFill>
                  <a:schemeClr val="lt1"/>
                </a:solidFill>
                <a:latin typeface="Impact"/>
                <a:ea typeface="Impact"/>
                <a:cs typeface="Impact"/>
                <a:sym typeface="Impact"/>
              </a:rPr>
              <a:t>6666.67</a:t>
            </a:r>
            <a:r>
              <a:rPr b="1" i="0" lang="en-US" sz="2600" u="none" cap="none" strike="noStrike">
                <a:solidFill>
                  <a:schemeClr val="lt1"/>
                </a:solidFill>
                <a:latin typeface="Impact"/>
                <a:ea typeface="Impact"/>
                <a:cs typeface="Impact"/>
                <a:sym typeface="Impact"/>
              </a:rPr>
              <a:t>)</a:t>
            </a:r>
            <a:endParaRPr b="1" i="0" sz="2600" u="none" cap="none" strike="noStrike">
              <a:solidFill>
                <a:schemeClr val="lt1"/>
              </a:solidFill>
              <a:latin typeface="Impact"/>
              <a:ea typeface="Impact"/>
              <a:cs typeface="Impact"/>
              <a:sym typeface="Impac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40"/>
              <a:buFont typeface="Arial"/>
              <a:buNone/>
            </a:pPr>
            <a:r>
              <a:t/>
            </a:r>
            <a:endParaRPr b="1" i="0" sz="100" u="none" cap="none" strike="noStrike">
              <a:solidFill>
                <a:schemeClr val="lt1"/>
              </a:solidFill>
              <a:latin typeface="Impact"/>
              <a:ea typeface="Impact"/>
              <a:cs typeface="Impact"/>
              <a:sym typeface="Impac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40"/>
              <a:buFont typeface="Arial"/>
              <a:buNone/>
            </a:pPr>
            <a:r>
              <a:rPr b="1" i="0" lang="en-US" sz="3400" u="none" cap="none" strike="noStrike">
                <a:solidFill>
                  <a:srgbClr val="38761D"/>
                </a:solidFill>
                <a:latin typeface="Impact"/>
                <a:ea typeface="Impact"/>
                <a:cs typeface="Impact"/>
                <a:sym typeface="Impact"/>
              </a:rPr>
              <a:t>=</a:t>
            </a:r>
            <a:r>
              <a:rPr b="1" i="0" lang="en-US" sz="3400" u="none" cap="none" strike="noStrike">
                <a:solidFill>
                  <a:schemeClr val="lt1"/>
                </a:solidFill>
                <a:latin typeface="Impact"/>
                <a:ea typeface="Impact"/>
                <a:cs typeface="Impact"/>
                <a:sym typeface="Impact"/>
              </a:rPr>
              <a:t> </a:t>
            </a:r>
            <a:r>
              <a:rPr b="1" i="0" lang="en-US" sz="3400" u="none" cap="none" strike="noStrike">
                <a:solidFill>
                  <a:srgbClr val="38761D"/>
                </a:solidFill>
                <a:latin typeface="Impact"/>
                <a:ea typeface="Impact"/>
                <a:cs typeface="Impact"/>
                <a:sym typeface="Impact"/>
              </a:rPr>
              <a:t>$</a:t>
            </a:r>
            <a:r>
              <a:rPr b="1" lang="en-US" sz="3400">
                <a:solidFill>
                  <a:srgbClr val="38761D"/>
                </a:solidFill>
                <a:latin typeface="Impact"/>
                <a:ea typeface="Impact"/>
                <a:cs typeface="Impact"/>
                <a:sym typeface="Impact"/>
              </a:rPr>
              <a:t>149,000.01</a:t>
            </a:r>
            <a:endParaRPr b="0" i="0" sz="900" u="none" cap="none" strike="noStrike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224" name="Google Shape;224;p10"/>
          <p:cNvSpPr txBox="1"/>
          <p:nvPr/>
        </p:nvSpPr>
        <p:spPr>
          <a:xfrm>
            <a:off x="2774025" y="1044580"/>
            <a:ext cx="7217700" cy="126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Arial"/>
              <a:buNone/>
            </a:pPr>
            <a:r>
              <a:rPr b="1" i="0" lang="en-US" sz="2800" u="none" cap="none" strike="noStrike">
                <a:solidFill>
                  <a:schemeClr val="dk2"/>
                </a:solidFill>
                <a:latin typeface="Impact"/>
                <a:ea typeface="Impact"/>
                <a:cs typeface="Impact"/>
                <a:sym typeface="Impact"/>
              </a:rPr>
              <a:t>Maximum Annual </a:t>
            </a:r>
            <a:r>
              <a:rPr b="1" lang="en-US" sz="2800">
                <a:solidFill>
                  <a:schemeClr val="dk2"/>
                </a:solidFill>
                <a:latin typeface="Impact"/>
                <a:ea typeface="Impact"/>
                <a:cs typeface="Impact"/>
                <a:sym typeface="Impact"/>
              </a:rPr>
              <a:t>Advertising Budget</a:t>
            </a:r>
            <a:endParaRPr b="1" i="0" sz="2800" u="none" cap="none" strike="noStrike">
              <a:solidFill>
                <a:schemeClr val="dk2"/>
              </a:solidFill>
              <a:latin typeface="Impact"/>
              <a:ea typeface="Impact"/>
              <a:cs typeface="Impact"/>
              <a:sym typeface="Impac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40"/>
              <a:buFont typeface="Arial"/>
              <a:buNone/>
            </a:pPr>
            <a:r>
              <a:rPr b="1" lang="en-US" sz="2600">
                <a:solidFill>
                  <a:schemeClr val="lt1"/>
                </a:solidFill>
                <a:latin typeface="Impact"/>
                <a:ea typeface="Impact"/>
                <a:cs typeface="Impact"/>
                <a:sym typeface="Impact"/>
              </a:rPr>
              <a:t>$10,000</a:t>
            </a:r>
            <a:endParaRPr b="1" i="0" sz="2600" u="none" cap="none" strike="noStrike">
              <a:solidFill>
                <a:schemeClr val="lt1"/>
              </a:solidFill>
              <a:latin typeface="Impact"/>
              <a:ea typeface="Impact"/>
              <a:cs typeface="Impact"/>
              <a:sym typeface="Impac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DashVTI">
  <a:themeElements>
    <a:clrScheme name="AnalogousFromLightSeedLeftStep">
      <a:dk1>
        <a:srgbClr val="000000"/>
      </a:dk1>
      <a:lt1>
        <a:srgbClr val="FFFFFF"/>
      </a:lt1>
      <a:dk2>
        <a:srgbClr val="242A41"/>
      </a:dk2>
      <a:lt2>
        <a:srgbClr val="E8E7E2"/>
      </a:lt2>
      <a:accent1>
        <a:srgbClr val="96A0C6"/>
      </a:accent1>
      <a:accent2>
        <a:srgbClr val="7FA4BA"/>
      </a:accent2>
      <a:accent3>
        <a:srgbClr val="82ACAA"/>
      </a:accent3>
      <a:accent4>
        <a:srgbClr val="77AE94"/>
      </a:accent4>
      <a:accent5>
        <a:srgbClr val="83AF89"/>
      </a:accent5>
      <a:accent6>
        <a:srgbClr val="88AF77"/>
      </a:accent6>
      <a:hlink>
        <a:srgbClr val="8E8256"/>
      </a:hlink>
      <a:folHlink>
        <a:srgbClr val="7F7F7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DashVTI">
  <a:themeElements>
    <a:clrScheme name="AnalogousFromLightSeedLeftStep">
      <a:dk1>
        <a:srgbClr val="000000"/>
      </a:dk1>
      <a:lt1>
        <a:srgbClr val="FFFFFF"/>
      </a:lt1>
      <a:dk2>
        <a:srgbClr val="242A41"/>
      </a:dk2>
      <a:lt2>
        <a:srgbClr val="E8E7E2"/>
      </a:lt2>
      <a:accent1>
        <a:srgbClr val="96A0C6"/>
      </a:accent1>
      <a:accent2>
        <a:srgbClr val="7FA4BA"/>
      </a:accent2>
      <a:accent3>
        <a:srgbClr val="82ACAA"/>
      </a:accent3>
      <a:accent4>
        <a:srgbClr val="77AE94"/>
      </a:accent4>
      <a:accent5>
        <a:srgbClr val="83AF89"/>
      </a:accent5>
      <a:accent6>
        <a:srgbClr val="88AF77"/>
      </a:accent6>
      <a:hlink>
        <a:srgbClr val="8E8256"/>
      </a:hlink>
      <a:folHlink>
        <a:srgbClr val="7F7F7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2025-02-19T20:00:41Z</dcterms:created>
  <dc:creator>Estremera, Melissa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0x010100DD084E42E705654B9CF1FB4D1B6F86C3</vt:lpwstr>
  </property>
  <property fmtid="{D5CDD505-2E9C-101B-9397-08002B2CF9AE}" pid="3" name="MediaServiceImageTags">
    <vt:lpwstr/>
  </property>
</Properties>
</file>